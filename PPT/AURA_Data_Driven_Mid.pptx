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24"/>
  </p:notesMasterIdLst>
  <p:handoutMasterIdLst>
    <p:handoutMasterId r:id="rId25"/>
  </p:handoutMasterIdLst>
  <p:sldIdLst>
    <p:sldId id="315" r:id="rId5"/>
    <p:sldId id="266" r:id="rId6"/>
    <p:sldId id="317" r:id="rId7"/>
    <p:sldId id="327" r:id="rId8"/>
    <p:sldId id="328" r:id="rId9"/>
    <p:sldId id="326" r:id="rId10"/>
    <p:sldId id="325" r:id="rId11"/>
    <p:sldId id="336" r:id="rId12"/>
    <p:sldId id="324" r:id="rId13"/>
    <p:sldId id="323" r:id="rId14"/>
    <p:sldId id="322" r:id="rId15"/>
    <p:sldId id="321" r:id="rId16"/>
    <p:sldId id="339" r:id="rId17"/>
    <p:sldId id="342" r:id="rId18"/>
    <p:sldId id="340" r:id="rId19"/>
    <p:sldId id="341" r:id="rId20"/>
    <p:sldId id="335" r:id="rId21"/>
    <p:sldId id="334" r:id="rId22"/>
    <p:sldId id="295"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00" dt="2026-08-17T10:06:46.678"/>
    <p1510:client id="{21FD1312-274E-3812-EB98-7870F7D34605}" v="34" dt="2026-08-17T20:06:07.432"/>
    <p1510:client id="{2A12CF10-6E74-0F54-EA39-3E51CA60947A}" v="14" dt="2026-08-18T02:07:47.648"/>
    <p1510:client id="{6DE1E8F6-B8B2-16B3-AEA9-96738681656F}" v="90" dt="2026-08-18T05:07:26.469"/>
    <p1510:client id="{7335DE80-705C-CAB6-B1CE-D5898DFF632C}" v="147" dt="2026-08-18T05:00:31.719"/>
    <p1510:client id="{CF69ECE6-3F73-95B4-BB52-19CABAF72764}" v="394" dt="2026-08-17T15:17:06.092"/>
  </p1510:revLst>
</p1510:revInfo>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8/18/2026</a:t>
            </a:fld>
            <a:endParaRPr lang="en-US"/>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8/18/2026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a:p>
        </p:txBody>
      </p:sp>
    </p:spTree>
    <p:extLst>
      <p:ext uri="{BB962C8B-B14F-4D97-AF65-F5344CB8AC3E}">
        <p14:creationId xmlns:p14="http://schemas.microsoft.com/office/powerpoint/2010/main" val="33560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a:p>
        </p:txBody>
      </p:sp>
    </p:spTree>
    <p:extLst>
      <p:ext uri="{BB962C8B-B14F-4D97-AF65-F5344CB8AC3E}">
        <p14:creationId xmlns:p14="http://schemas.microsoft.com/office/powerpoint/2010/main" val="25952606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A3FA7-05EE-146A-3BC5-C45A9A088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106132-DA7E-5DCE-1B3C-B4A3B147E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E61C48-80DC-9F47-D103-421BDBB618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96231F9-8F72-C8E0-7B96-84DBFFFE5603}"/>
              </a:ext>
            </a:extLst>
          </p:cNvPr>
          <p:cNvSpPr>
            <a:spLocks noGrp="1"/>
          </p:cNvSpPr>
          <p:nvPr>
            <p:ph type="sldNum" sz="quarter" idx="5"/>
          </p:nvPr>
        </p:nvSpPr>
        <p:spPr/>
        <p:txBody>
          <a:bodyPr/>
          <a:lstStyle/>
          <a:p>
            <a:fld id="{54EEB602-95FC-483A-B12D-216A7AD7EA24}" type="slidenum">
              <a:rPr lang="en-US" smtClean="0"/>
              <a:t>3</a:t>
            </a:fld>
            <a:endParaRPr lang="en-US"/>
          </a:p>
        </p:txBody>
      </p:sp>
    </p:spTree>
    <p:extLst>
      <p:ext uri="{BB962C8B-B14F-4D97-AF65-F5344CB8AC3E}">
        <p14:creationId xmlns:p14="http://schemas.microsoft.com/office/powerpoint/2010/main" val="521192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24C4E4-5CB5-69C3-5FC2-D737DE1D7C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0241D2-94FE-E35E-D6BF-002AFC5E7E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F00A9F-1D8B-901F-F79D-ADE29F26E9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1D1398-1AA3-18B7-C371-7D4131856318}"/>
              </a:ext>
            </a:extLst>
          </p:cNvPr>
          <p:cNvSpPr>
            <a:spLocks noGrp="1"/>
          </p:cNvSpPr>
          <p:nvPr>
            <p:ph type="sldNum" sz="quarter" idx="5"/>
          </p:nvPr>
        </p:nvSpPr>
        <p:spPr/>
        <p:txBody>
          <a:bodyPr/>
          <a:lstStyle/>
          <a:p>
            <a:fld id="{54EEB602-95FC-483A-B12D-216A7AD7EA24}" type="slidenum">
              <a:rPr lang="en-US" smtClean="0"/>
              <a:t>4</a:t>
            </a:fld>
            <a:endParaRPr lang="en-US"/>
          </a:p>
        </p:txBody>
      </p:sp>
    </p:spTree>
    <p:extLst>
      <p:ext uri="{BB962C8B-B14F-4D97-AF65-F5344CB8AC3E}">
        <p14:creationId xmlns:p14="http://schemas.microsoft.com/office/powerpoint/2010/main" val="4159461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80666-371F-42A5-E7FB-F54CC38A9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17F5F7-90C9-27B0-7CC2-612FAA025F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7EEDFF-F14D-D0E0-CB09-465D31C2A6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28C4694-0964-68C0-8791-789327A8E839}"/>
              </a:ext>
            </a:extLst>
          </p:cNvPr>
          <p:cNvSpPr>
            <a:spLocks noGrp="1"/>
          </p:cNvSpPr>
          <p:nvPr>
            <p:ph type="sldNum" sz="quarter" idx="5"/>
          </p:nvPr>
        </p:nvSpPr>
        <p:spPr/>
        <p:txBody>
          <a:bodyPr/>
          <a:lstStyle/>
          <a:p>
            <a:fld id="{54EEB602-95FC-483A-B12D-216A7AD7EA24}" type="slidenum">
              <a:rPr lang="en-US" smtClean="0"/>
              <a:t>5</a:t>
            </a:fld>
            <a:endParaRPr lang="en-US"/>
          </a:p>
        </p:txBody>
      </p:sp>
    </p:spTree>
    <p:extLst>
      <p:ext uri="{BB962C8B-B14F-4D97-AF65-F5344CB8AC3E}">
        <p14:creationId xmlns:p14="http://schemas.microsoft.com/office/powerpoint/2010/main" val="3922806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1098F4-9C51-A8D6-E799-0326CAA453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37692-AF23-AD06-5449-A0C4F683BA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F36F4-939F-CFCD-9F6C-396CD14513E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C9E9E85-DA14-2503-3DEE-417806BC5964}"/>
              </a:ext>
            </a:extLst>
          </p:cNvPr>
          <p:cNvSpPr>
            <a:spLocks noGrp="1"/>
          </p:cNvSpPr>
          <p:nvPr>
            <p:ph type="sldNum" sz="quarter" idx="5"/>
          </p:nvPr>
        </p:nvSpPr>
        <p:spPr/>
        <p:txBody>
          <a:bodyPr/>
          <a:lstStyle/>
          <a:p>
            <a:fld id="{54EEB602-95FC-483A-B12D-216A7AD7EA24}" type="slidenum">
              <a:rPr lang="en-US" smtClean="0"/>
              <a:t>6</a:t>
            </a:fld>
            <a:endParaRPr lang="en-US"/>
          </a:p>
        </p:txBody>
      </p:sp>
    </p:spTree>
    <p:extLst>
      <p:ext uri="{BB962C8B-B14F-4D97-AF65-F5344CB8AC3E}">
        <p14:creationId xmlns:p14="http://schemas.microsoft.com/office/powerpoint/2010/main" val="5664825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306E5-6C41-D2AD-27A7-AFF2ACF25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E207B7-0C30-31F1-F01B-CE88AB5730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CF5E9-23A9-D23E-BCDF-5272C812BA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C22D499-F4EA-355C-C008-CE8100BB38C0}"/>
              </a:ext>
            </a:extLst>
          </p:cNvPr>
          <p:cNvSpPr>
            <a:spLocks noGrp="1"/>
          </p:cNvSpPr>
          <p:nvPr>
            <p:ph type="sldNum" sz="quarter" idx="5"/>
          </p:nvPr>
        </p:nvSpPr>
        <p:spPr/>
        <p:txBody>
          <a:bodyPr/>
          <a:lstStyle/>
          <a:p>
            <a:fld id="{54EEB602-95FC-483A-B12D-216A7AD7EA24}" type="slidenum">
              <a:rPr lang="en-US" smtClean="0"/>
              <a:t>7</a:t>
            </a:fld>
            <a:endParaRPr lang="en-US"/>
          </a:p>
        </p:txBody>
      </p:sp>
    </p:spTree>
    <p:extLst>
      <p:ext uri="{BB962C8B-B14F-4D97-AF65-F5344CB8AC3E}">
        <p14:creationId xmlns:p14="http://schemas.microsoft.com/office/powerpoint/2010/main" val="1151402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8D25D-B2AB-902A-8D4E-C46DD73AC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D2A530-DD94-9692-A4C3-D2EB228616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37456-1F92-4EB6-BF1C-82FAC79B42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DE0C89-5A44-6741-8670-03D89EEE9E7E}"/>
              </a:ext>
            </a:extLst>
          </p:cNvPr>
          <p:cNvSpPr>
            <a:spLocks noGrp="1"/>
          </p:cNvSpPr>
          <p:nvPr>
            <p:ph type="sldNum" sz="quarter" idx="5"/>
          </p:nvPr>
        </p:nvSpPr>
        <p:spPr/>
        <p:txBody>
          <a:bodyPr/>
          <a:lstStyle/>
          <a:p>
            <a:fld id="{54EEB602-95FC-483A-B12D-216A7AD7EA24}" type="slidenum">
              <a:rPr lang="en-US" smtClean="0"/>
              <a:t>8</a:t>
            </a:fld>
            <a:endParaRPr lang="en-US"/>
          </a:p>
        </p:txBody>
      </p:sp>
    </p:spTree>
    <p:extLst>
      <p:ext uri="{BB962C8B-B14F-4D97-AF65-F5344CB8AC3E}">
        <p14:creationId xmlns:p14="http://schemas.microsoft.com/office/powerpoint/2010/main" val="19695264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1E677-2C38-CE95-9B12-D70420AADC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3560D2-D08B-8D76-E001-8EB90E754B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9FE61-CA7D-6202-189C-CF96E8E32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6E0A390-D5CF-A437-4732-1922B2930EA6}"/>
              </a:ext>
            </a:extLst>
          </p:cNvPr>
          <p:cNvSpPr>
            <a:spLocks noGrp="1"/>
          </p:cNvSpPr>
          <p:nvPr>
            <p:ph type="sldNum" sz="quarter" idx="5"/>
          </p:nvPr>
        </p:nvSpPr>
        <p:spPr/>
        <p:txBody>
          <a:bodyPr/>
          <a:lstStyle/>
          <a:p>
            <a:fld id="{54EEB602-95FC-483A-B12D-216A7AD7EA24}" type="slidenum">
              <a:rPr lang="en-US" smtClean="0"/>
              <a:t>9</a:t>
            </a:fld>
            <a:endParaRPr lang="en-US"/>
          </a:p>
        </p:txBody>
      </p:sp>
    </p:spTree>
    <p:extLst>
      <p:ext uri="{BB962C8B-B14F-4D97-AF65-F5344CB8AC3E}">
        <p14:creationId xmlns:p14="http://schemas.microsoft.com/office/powerpoint/2010/main" val="20002461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A6F53-DF88-BC3F-26BB-403F117AF0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1E0D2C-F127-5116-2D75-841019018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6FF757-1F8E-D4D1-CFF4-1E9D79E4AE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2795FA-1258-FC30-5BDF-AE4A57DABBC0}"/>
              </a:ext>
            </a:extLst>
          </p:cNvPr>
          <p:cNvSpPr>
            <a:spLocks noGrp="1"/>
          </p:cNvSpPr>
          <p:nvPr>
            <p:ph type="sldNum" sz="quarter" idx="5"/>
          </p:nvPr>
        </p:nvSpPr>
        <p:spPr/>
        <p:txBody>
          <a:bodyPr/>
          <a:lstStyle/>
          <a:p>
            <a:fld id="{54EEB602-95FC-483A-B12D-216A7AD7EA24}" type="slidenum">
              <a:rPr lang="en-US" smtClean="0"/>
              <a:t>10</a:t>
            </a:fld>
            <a:endParaRPr lang="en-US"/>
          </a:p>
        </p:txBody>
      </p:sp>
    </p:spTree>
    <p:extLst>
      <p:ext uri="{BB962C8B-B14F-4D97-AF65-F5344CB8AC3E}">
        <p14:creationId xmlns:p14="http://schemas.microsoft.com/office/powerpoint/2010/main" val="41334011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2CD66-8D70-3014-41FF-77EAE80D18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06D9A-C110-A6C5-42B3-803B16F996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385DA5-45E2-9D21-C8B3-514ADF42F6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1DF035F-92DA-EB09-4CEF-9690A9CD4C51}"/>
              </a:ext>
            </a:extLst>
          </p:cNvPr>
          <p:cNvSpPr>
            <a:spLocks noGrp="1"/>
          </p:cNvSpPr>
          <p:nvPr>
            <p:ph type="sldNum" sz="quarter" idx="5"/>
          </p:nvPr>
        </p:nvSpPr>
        <p:spPr/>
        <p:txBody>
          <a:bodyPr/>
          <a:lstStyle/>
          <a:p>
            <a:fld id="{54EEB602-95FC-483A-B12D-216A7AD7EA24}" type="slidenum">
              <a:rPr lang="en-US" smtClean="0"/>
              <a:t>11</a:t>
            </a:fld>
            <a:endParaRPr lang="en-US"/>
          </a:p>
        </p:txBody>
      </p:sp>
    </p:spTree>
    <p:extLst>
      <p:ext uri="{BB962C8B-B14F-4D97-AF65-F5344CB8AC3E}">
        <p14:creationId xmlns:p14="http://schemas.microsoft.com/office/powerpoint/2010/main" val="2278974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E9EB9-72BB-4516-BFEC-92EF9DEFEC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2B7971-0880-C8CD-4357-49D42A988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9D78F3-D7CA-065B-476C-F0086C1380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8BCC1E-D82C-E7DA-7536-A321CE99D38B}"/>
              </a:ext>
            </a:extLst>
          </p:cNvPr>
          <p:cNvSpPr>
            <a:spLocks noGrp="1"/>
          </p:cNvSpPr>
          <p:nvPr>
            <p:ph type="sldNum" sz="quarter" idx="5"/>
          </p:nvPr>
        </p:nvSpPr>
        <p:spPr/>
        <p:txBody>
          <a:bodyPr/>
          <a:lstStyle/>
          <a:p>
            <a:fld id="{54EEB602-95FC-483A-B12D-216A7AD7EA24}" type="slidenum">
              <a:rPr lang="en-US" smtClean="0"/>
              <a:t>12</a:t>
            </a:fld>
            <a:endParaRPr lang="en-US"/>
          </a:p>
        </p:txBody>
      </p:sp>
    </p:spTree>
    <p:extLst>
      <p:ext uri="{BB962C8B-B14F-4D97-AF65-F5344CB8AC3E}">
        <p14:creationId xmlns:p14="http://schemas.microsoft.com/office/powerpoint/2010/main" val="2075511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3A138-1B81-B50A-11A9-10F76F22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FB3D19-B89F-5C8A-5584-4E50142241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84A740-32CE-79B2-3720-AFA96F7907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604EF4-083A-3220-DC5C-4EDE723EAA9A}"/>
              </a:ext>
            </a:extLst>
          </p:cNvPr>
          <p:cNvSpPr>
            <a:spLocks noGrp="1"/>
          </p:cNvSpPr>
          <p:nvPr>
            <p:ph type="sldNum" sz="quarter" idx="5"/>
          </p:nvPr>
        </p:nvSpPr>
        <p:spPr/>
        <p:txBody>
          <a:bodyPr/>
          <a:lstStyle/>
          <a:p>
            <a:fld id="{54EEB602-95FC-483A-B12D-216A7AD7EA24}" type="slidenum">
              <a:rPr lang="en-US" smtClean="0"/>
              <a:t>13</a:t>
            </a:fld>
            <a:endParaRPr lang="en-US"/>
          </a:p>
        </p:txBody>
      </p:sp>
    </p:spTree>
    <p:extLst>
      <p:ext uri="{BB962C8B-B14F-4D97-AF65-F5344CB8AC3E}">
        <p14:creationId xmlns:p14="http://schemas.microsoft.com/office/powerpoint/2010/main" val="15475608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A581B-9681-F199-3F8F-064801A90E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1597C0-4B70-E5FA-6DC7-C300E8BA01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E2AC8E-2CF7-BCFB-1391-263BD1060A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8449F6E-C5CC-AD43-6F95-6AD8F75F1B7F}"/>
              </a:ext>
            </a:extLst>
          </p:cNvPr>
          <p:cNvSpPr>
            <a:spLocks noGrp="1"/>
          </p:cNvSpPr>
          <p:nvPr>
            <p:ph type="sldNum" sz="quarter" idx="5"/>
          </p:nvPr>
        </p:nvSpPr>
        <p:spPr/>
        <p:txBody>
          <a:bodyPr/>
          <a:lstStyle/>
          <a:p>
            <a:fld id="{54EEB602-95FC-483A-B12D-216A7AD7EA24}" type="slidenum">
              <a:rPr lang="en-US" smtClean="0"/>
              <a:t>14</a:t>
            </a:fld>
            <a:endParaRPr lang="en-US"/>
          </a:p>
        </p:txBody>
      </p:sp>
    </p:spTree>
    <p:extLst>
      <p:ext uri="{BB962C8B-B14F-4D97-AF65-F5344CB8AC3E}">
        <p14:creationId xmlns:p14="http://schemas.microsoft.com/office/powerpoint/2010/main" val="1976539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0A0ED2-BC46-E99B-5ED9-1D759C6B7F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906F02-06F9-19E8-E553-140825EB25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44457F-BD87-6127-7BDC-923BBB3BE33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40DA67F-28D9-FAF3-C843-8837C3E10128}"/>
              </a:ext>
            </a:extLst>
          </p:cNvPr>
          <p:cNvSpPr>
            <a:spLocks noGrp="1"/>
          </p:cNvSpPr>
          <p:nvPr>
            <p:ph type="sldNum" sz="quarter" idx="5"/>
          </p:nvPr>
        </p:nvSpPr>
        <p:spPr/>
        <p:txBody>
          <a:bodyPr/>
          <a:lstStyle/>
          <a:p>
            <a:fld id="{54EEB602-95FC-483A-B12D-216A7AD7EA24}" type="slidenum">
              <a:rPr lang="en-US" smtClean="0"/>
              <a:t>15</a:t>
            </a:fld>
            <a:endParaRPr lang="en-US"/>
          </a:p>
        </p:txBody>
      </p:sp>
    </p:spTree>
    <p:extLst>
      <p:ext uri="{BB962C8B-B14F-4D97-AF65-F5344CB8AC3E}">
        <p14:creationId xmlns:p14="http://schemas.microsoft.com/office/powerpoint/2010/main" val="1983625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EF530-54D3-5606-2670-44F621C60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8E92C-E917-4873-3153-BC5B9CDA7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3CF5A-A191-74B3-A6D7-9AB313A1CBC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8E95F3-1F6A-101D-7A6A-B226D606A432}"/>
              </a:ext>
            </a:extLst>
          </p:cNvPr>
          <p:cNvSpPr>
            <a:spLocks noGrp="1"/>
          </p:cNvSpPr>
          <p:nvPr>
            <p:ph type="sldNum" sz="quarter" idx="5"/>
          </p:nvPr>
        </p:nvSpPr>
        <p:spPr/>
        <p:txBody>
          <a:bodyPr/>
          <a:lstStyle/>
          <a:p>
            <a:fld id="{54EEB602-95FC-483A-B12D-216A7AD7EA24}" type="slidenum">
              <a:rPr lang="en-US" smtClean="0"/>
              <a:t>16</a:t>
            </a:fld>
            <a:endParaRPr lang="en-US"/>
          </a:p>
        </p:txBody>
      </p:sp>
    </p:spTree>
    <p:extLst>
      <p:ext uri="{BB962C8B-B14F-4D97-AF65-F5344CB8AC3E}">
        <p14:creationId xmlns:p14="http://schemas.microsoft.com/office/powerpoint/2010/main" val="32847451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70D78-C3EF-62D2-22F0-55472BE847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582294-54B3-2FFB-B98E-A83626337A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D7B89-6F3E-5A07-3D49-3EE2408E37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12361A-10C8-ECA3-9A8F-DB431085D499}"/>
              </a:ext>
            </a:extLst>
          </p:cNvPr>
          <p:cNvSpPr>
            <a:spLocks noGrp="1"/>
          </p:cNvSpPr>
          <p:nvPr>
            <p:ph type="sldNum" sz="quarter" idx="5"/>
          </p:nvPr>
        </p:nvSpPr>
        <p:spPr/>
        <p:txBody>
          <a:bodyPr/>
          <a:lstStyle/>
          <a:p>
            <a:fld id="{54EEB602-95FC-483A-B12D-216A7AD7EA24}" type="slidenum">
              <a:rPr lang="en-US" smtClean="0"/>
              <a:t>17</a:t>
            </a:fld>
            <a:endParaRPr lang="en-US"/>
          </a:p>
        </p:txBody>
      </p:sp>
    </p:spTree>
    <p:extLst>
      <p:ext uri="{BB962C8B-B14F-4D97-AF65-F5344CB8AC3E}">
        <p14:creationId xmlns:p14="http://schemas.microsoft.com/office/powerpoint/2010/main" val="568915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7DC2-901D-CACC-474B-1C2D53B3D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9E73DD-80F8-3217-AD86-1B80321B9C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8FB464-57B2-1F14-BF5D-C5BD01687A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8CE7147-CFFC-CDC0-2C6D-F3D1C4401EB8}"/>
              </a:ext>
            </a:extLst>
          </p:cNvPr>
          <p:cNvSpPr>
            <a:spLocks noGrp="1"/>
          </p:cNvSpPr>
          <p:nvPr>
            <p:ph type="sldNum" sz="quarter" idx="5"/>
          </p:nvPr>
        </p:nvSpPr>
        <p:spPr/>
        <p:txBody>
          <a:bodyPr/>
          <a:lstStyle/>
          <a:p>
            <a:fld id="{54EEB602-95FC-483A-B12D-216A7AD7EA24}" type="slidenum">
              <a:rPr lang="en-US" smtClean="0"/>
              <a:t>18</a:t>
            </a:fld>
            <a:endParaRPr lang="en-US"/>
          </a:p>
        </p:txBody>
      </p:sp>
    </p:spTree>
    <p:extLst>
      <p:ext uri="{BB962C8B-B14F-4D97-AF65-F5344CB8AC3E}">
        <p14:creationId xmlns:p14="http://schemas.microsoft.com/office/powerpoint/2010/main" val="24972577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F07F282E-55F5-4803-B60F-09BA4600E538}" type="slidenum">
              <a:rPr lang="en-US" smtClean="0"/>
              <a:t>19</a:t>
            </a:fld>
            <a:endParaRPr lang="en-US"/>
          </a:p>
        </p:txBody>
      </p:sp>
    </p:spTree>
    <p:extLst>
      <p:ext uri="{BB962C8B-B14F-4D97-AF65-F5344CB8AC3E}">
        <p14:creationId xmlns:p14="http://schemas.microsoft.com/office/powerpoint/2010/main" val="837249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836721537"/>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9/8/20XX</a:t>
            </a:r>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3184602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58979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9/8/20XX</a:t>
            </a:r>
          </a:p>
        </p:txBody>
      </p:sp>
      <p:sp>
        <p:nvSpPr>
          <p:cNvPr id="6" name="Footer Placeholder 5"/>
          <p:cNvSpPr>
            <a:spLocks noGrp="1"/>
          </p:cNvSpPr>
          <p:nvPr>
            <p:ph type="ftr" sz="quarter" idx="11"/>
          </p:nvPr>
        </p:nvSpPr>
        <p:spPr/>
        <p:txBody>
          <a:bodyPr/>
          <a:lstStyle/>
          <a:p>
            <a:r>
              <a:rPr lang="en-US"/>
              <a:t>Presentation Title</a:t>
            </a:r>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598559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9/8/20XX</a:t>
            </a:r>
          </a:p>
        </p:txBody>
      </p:sp>
      <p:sp>
        <p:nvSpPr>
          <p:cNvPr id="8" name="Footer Placeholder 7"/>
          <p:cNvSpPr>
            <a:spLocks noGrp="1"/>
          </p:cNvSpPr>
          <p:nvPr>
            <p:ph type="ftr" sz="quarter" idx="11"/>
          </p:nvPr>
        </p:nvSpPr>
        <p:spPr/>
        <p:txBody>
          <a:bodyPr/>
          <a:lstStyle/>
          <a:p>
            <a:r>
              <a:rPr lang="en-US"/>
              <a:t>Presentation Title</a:t>
            </a:r>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056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5CD215-1C45-48A0-8534-39FFE8A7C95A}" type="datetime1">
              <a:rPr lang="en-US" smtClean="0"/>
              <a:t>8/18/2026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a:p>
        </p:txBody>
      </p:sp>
      <p:sp useBgFill="1">
        <p:nvSpPr>
          <p:cNvPr id="6" name="Rectangle 5">
            <a:extLst>
              <a:ext uri="{FF2B5EF4-FFF2-40B4-BE49-F238E27FC236}">
                <a16:creationId xmlns:a16="http://schemas.microsoft.com/office/drawing/2014/main" id="{34C61DF6-3A2D-55DA-8448-C2D07707EFD5}"/>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C7B340BB-A35D-C47D-F28F-6FBE043F6E75}"/>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CDAB0E-1B08-9A3E-38B2-E60401CC015C}"/>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44A4B38-C41B-0C14-CB28-67E9721123DD}"/>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DFD99EC-B9CC-A1AC-EFF4-B65977F54B6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9280CA-3626-981C-CF19-E559E0DA8DAC}"/>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E5C9117-F419-BD57-1080-86A4D136087F}"/>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BD54386-29C8-95E0-C9D9-78F27AD2E73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3868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2874922067"/>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56233360"/>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p>
        </p:txBody>
      </p:sp>
    </p:spTree>
    <p:extLst>
      <p:ext uri="{BB962C8B-B14F-4D97-AF65-F5344CB8AC3E}">
        <p14:creationId xmlns:p14="http://schemas.microsoft.com/office/powerpoint/2010/main" val="34974580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9/8/20XX</a:t>
            </a:r>
          </a:p>
        </p:txBody>
      </p:sp>
      <p:sp>
        <p:nvSpPr>
          <p:cNvPr id="5" name="Footer Placeholder 4"/>
          <p:cNvSpPr>
            <a:spLocks noGrp="1"/>
          </p:cNvSpPr>
          <p:nvPr>
            <p:ph type="ftr" sz="quarter" idx="11"/>
          </p:nvPr>
        </p:nvSpPr>
        <p:spPr/>
        <p:txBody>
          <a:bodyPr/>
          <a:lstStyle/>
          <a:p>
            <a:r>
              <a:rPr lang="en-US"/>
              <a:t>Presentation Title</a:t>
            </a:r>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a:p>
        </p:txBody>
      </p:sp>
    </p:spTree>
    <p:extLst>
      <p:ext uri="{BB962C8B-B14F-4D97-AF65-F5344CB8AC3E}">
        <p14:creationId xmlns:p14="http://schemas.microsoft.com/office/powerpoint/2010/main" val="13514780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277965" y="6296615"/>
            <a:ext cx="2505996" cy="365125"/>
          </a:xfrm>
        </p:spPr>
        <p:txBody>
          <a:bodyPr/>
          <a:lstStyle/>
          <a:p>
            <a:r>
              <a:rPr lang="en-US"/>
              <a:t>9/8/20XX</a:t>
            </a:r>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1242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361923"/>
            <a:ext cx="6623040" cy="1421898"/>
          </a:xfrm>
        </p:spPr>
        <p:txBody>
          <a:bodyPr anchor="b" anchorCtr="0">
            <a:noAutofit/>
          </a:bodyPr>
          <a:lstStyle>
            <a:lvl1pPr>
              <a:lnSpc>
                <a:spcPct val="100000"/>
              </a:lnSpc>
              <a:defRPr sz="3200"/>
            </a:lvl1pPr>
          </a:lstStyle>
          <a:p>
            <a:r>
              <a:rPr lang="en-US"/>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hasCustomPrompt="1"/>
          </p:nvPr>
        </p:nvSpPr>
        <p:spPr>
          <a:xfrm>
            <a:off x="787399" y="2916772"/>
            <a:ext cx="6622819" cy="2852639"/>
          </a:xfrm>
        </p:spPr>
        <p:txBody>
          <a:bodyPr anchor="t"/>
          <a:lstStyle>
            <a:lvl1pPr marL="0" indent="0">
              <a:lnSpc>
                <a:spcPct val="125000"/>
              </a:lnSpc>
              <a:spcAft>
                <a:spcPts val="600"/>
              </a:spcAft>
              <a:buNone/>
              <a:defRPr sz="2000" b="0"/>
            </a:lvl1pPr>
            <a:lvl2pPr>
              <a:lnSpc>
                <a:spcPct val="125000"/>
              </a:lnSpc>
              <a:spcAft>
                <a:spcPts val="600"/>
              </a:spcAft>
              <a:defRPr/>
            </a:lvl2pPr>
            <a:lvl3pPr>
              <a:lnSpc>
                <a:spcPct val="125000"/>
              </a:lnSpc>
              <a:spcAft>
                <a:spcPts val="600"/>
              </a:spcAft>
              <a:defRPr/>
            </a:lvl3pPr>
            <a:lvl4pPr>
              <a:lnSpc>
                <a:spcPct val="125000"/>
              </a:lnSpc>
              <a:spcAft>
                <a:spcPts val="600"/>
              </a:spcAft>
              <a:defRPr/>
            </a:lvl4pPr>
            <a:lvl5pPr>
              <a:lnSpc>
                <a:spcPct val="125000"/>
              </a:lnSpc>
              <a:spcAft>
                <a:spcPts val="600"/>
              </a:spcAft>
              <a:defRPr/>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D79D74E-6357-D3E7-30C0-09B4B82BA321}"/>
              </a:ext>
              <a:ext uri="{C183D7F6-B498-43B3-948B-1728B52AA6E4}">
                <adec:decorative xmlns:adec="http://schemas.microsoft.com/office/drawing/2017/decorative" val="1"/>
              </a:ext>
            </a:extLst>
          </p:cNvPr>
          <p:cNvSpPr/>
          <p:nvPr userDrawn="1"/>
        </p:nvSpPr>
        <p:spPr>
          <a:xfrm>
            <a:off x="8203482" y="1095507"/>
            <a:ext cx="3997653" cy="50168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57003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0"/>
            <a:ext cx="12192000" cy="13516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itle 1">
            <a:extLst>
              <a:ext uri="{FF2B5EF4-FFF2-40B4-BE49-F238E27FC236}">
                <a16:creationId xmlns:a16="http://schemas.microsoft.com/office/drawing/2014/main" id="{5E19795B-1103-80EF-6098-1E8371D07DB8}"/>
              </a:ext>
            </a:extLst>
          </p:cNvPr>
          <p:cNvSpPr>
            <a:spLocks noGrp="1"/>
          </p:cNvSpPr>
          <p:nvPr>
            <p:ph type="title" hasCustomPrompt="1"/>
          </p:nvPr>
        </p:nvSpPr>
        <p:spPr>
          <a:xfrm>
            <a:off x="648935" y="91439"/>
            <a:ext cx="10900146" cy="1168739"/>
          </a:xfrm>
        </p:spPr>
        <p:txBody>
          <a:bodyPr tIns="182880" anchor="ctr" anchorCtr="0">
            <a:noAutofit/>
          </a:bodyPr>
          <a:lstStyle>
            <a:lvl1pPr>
              <a:lnSpc>
                <a:spcPct val="100000"/>
              </a:lnSpc>
              <a:defRPr sz="3200">
                <a:solidFill>
                  <a:schemeClr val="bg1"/>
                </a:solidFill>
              </a:defRPr>
            </a:lvl1pPr>
          </a:lstStyle>
          <a:p>
            <a:r>
              <a:rPr lang="en-US">
                <a:solidFill>
                  <a:schemeClr val="bg1"/>
                </a:solidFill>
              </a:rPr>
              <a:t>Click to add 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hasCustomPrompt="1"/>
          </p:nvPr>
        </p:nvSpPr>
        <p:spPr>
          <a:xfrm>
            <a:off x="648935" y="1646102"/>
            <a:ext cx="3819652" cy="4160520"/>
          </a:xfrm>
        </p:spPr>
        <p:txBody>
          <a:bodyPr anchor="t">
            <a:normAutofit/>
          </a:bodyPr>
          <a:lstStyle>
            <a:lvl1pPr>
              <a:lnSpc>
                <a:spcPct val="125000"/>
              </a:lnSpc>
              <a:spcAft>
                <a:spcPts val="600"/>
              </a:spcAft>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a:t>Presentation Title</a:t>
            </a:r>
            <a:endParaRPr lang="en-US">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2">
            <a:extLst>
              <a:ext uri="{FF2B5EF4-FFF2-40B4-BE49-F238E27FC236}">
                <a16:creationId xmlns:a16="http://schemas.microsoft.com/office/drawing/2014/main" id="{2E94D0A7-4358-49BF-96EE-8DEB6F4DCF56}"/>
              </a:ext>
            </a:extLst>
          </p:cNvPr>
          <p:cNvSpPr>
            <a:spLocks noGrp="1"/>
          </p:cNvSpPr>
          <p:nvPr>
            <p:ph sz="quarter" idx="19" hasCustomPrompt="1"/>
          </p:nvPr>
        </p:nvSpPr>
        <p:spPr>
          <a:xfrm>
            <a:off x="4679661" y="1646102"/>
            <a:ext cx="6863403" cy="4160520"/>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3406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848455"/>
            <a:ext cx="5102365" cy="2601914"/>
          </a:xfrm>
        </p:spPr>
        <p:txBody>
          <a:bodyPr tIns="182880" anchor="ctr" anchorCtr="0">
            <a:noAutofit/>
          </a:bodyPr>
          <a:lstStyle>
            <a:lvl1pPr>
              <a:lnSpc>
                <a:spcPct val="100000"/>
              </a:lnSpc>
              <a:defRPr sz="3200" cap="all" baseline="0">
                <a:solidFill>
                  <a:schemeClr val="bg1"/>
                </a:solidFill>
              </a:defRPr>
            </a:lvl1pPr>
          </a:lstStyle>
          <a:p>
            <a:r>
              <a:rPr lang="en-US">
                <a:solidFill>
                  <a:schemeClr val="bg1"/>
                </a:solidFill>
              </a:rPr>
              <a:t>CLICK TO ADD TITLE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ctr">
            <a:normAutofit/>
          </a:bodyPr>
          <a:lstStyle>
            <a:lvl1pPr marL="0" indent="0">
              <a:lnSpc>
                <a:spcPct val="100000"/>
              </a:lnSpc>
              <a:spcAft>
                <a:spcPts val="600"/>
              </a:spcAft>
              <a:buNone/>
              <a:defRPr sz="1800" b="0"/>
            </a:lvl1pPr>
          </a:lstStyle>
          <a:p>
            <a:r>
              <a:rPr lang="en-US"/>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lang="en-US" sz="1200" kern="1200" spc="150" baseline="0" dirty="0">
                <a:solidFill>
                  <a:schemeClr val="tx1">
                    <a:lumMod val="75000"/>
                    <a:lumOff val="25000"/>
                  </a:schemeClr>
                </a:solidFill>
                <a:latin typeface="+mj-lt"/>
                <a:ea typeface="+mn-ea"/>
                <a:cs typeface="+mn-cs"/>
              </a:defRPr>
            </a:lvl1pPr>
          </a:lstStyle>
          <a:p>
            <a:r>
              <a:rPr lang="en-US"/>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a:p>
        </p:txBody>
      </p:sp>
      <p:sp>
        <p:nvSpPr>
          <p:cNvPr id="2" name="Rectangle 1">
            <a:extLst>
              <a:ext uri="{FF2B5EF4-FFF2-40B4-BE49-F238E27FC236}">
                <a16:creationId xmlns:a16="http://schemas.microsoft.com/office/drawing/2014/main" id="{50557ABF-B75C-BD78-1A04-E483A57A9491}"/>
              </a:ext>
              <a:ext uri="{C183D7F6-B498-43B3-948B-1728B52AA6E4}">
                <adec:decorative xmlns:adec="http://schemas.microsoft.com/office/drawing/2017/decorative" val="1"/>
              </a:ext>
            </a:extLst>
          </p:cNvPr>
          <p:cNvSpPr/>
          <p:nvPr userDrawn="1"/>
        </p:nvSpPr>
        <p:spPr>
          <a:xfrm>
            <a:off x="1067712" y="0"/>
            <a:ext cx="5728216" cy="8455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88768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01823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82" r:id="rId12"/>
    <p:sldLayoutId id="2147483698" r:id="rId13"/>
    <p:sldLayoutId id="2147483699" r:id="rId14"/>
    <p:sldLayoutId id="2147483700" r:id="rId15"/>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a:xfrm>
            <a:off x="1242281" y="2805952"/>
            <a:ext cx="9542259" cy="2832848"/>
          </a:xfrm>
        </p:spPr>
        <p:txBody>
          <a:bodyPr vert="horz" lIns="109728" tIns="109728" rIns="109728" bIns="91440" rtlCol="0" anchor="ctr">
            <a:normAutofit fontScale="90000"/>
          </a:bodyPr>
          <a:lstStyle/>
          <a:p>
            <a:pPr algn="ctr"/>
            <a:r>
              <a:rPr lang="en-IN" sz="2700">
                <a:latin typeface="Calibri" panose="020F0502020204030204" pitchFamily="34" charset="0"/>
                <a:ea typeface="Calibri" panose="020F0502020204030204" pitchFamily="34" charset="0"/>
                <a:cs typeface="Calibri" panose="020F0502020204030204" pitchFamily="34" charset="0"/>
              </a:rPr>
              <a:t>22AIE452</a:t>
            </a:r>
            <a:r>
              <a:rPr lang="en-US" sz="2700">
                <a:latin typeface="Calibri" panose="020F0502020204030204" pitchFamily="34" charset="0"/>
                <a:ea typeface="Calibri" panose="020F0502020204030204" pitchFamily="34" charset="0"/>
                <a:cs typeface="Calibri" panose="020F0502020204030204" pitchFamily="34" charset="0"/>
              </a:rPr>
              <a:t> </a:t>
            </a:r>
            <a:r>
              <a:rPr lang="en-IN" sz="2700">
                <a:latin typeface="Calibri" panose="020F0502020204030204" pitchFamily="34" charset="0"/>
                <a:ea typeface="Calibri" panose="020F0502020204030204" pitchFamily="34" charset="0"/>
                <a:cs typeface="Calibri" panose="020F0502020204030204" pitchFamily="34" charset="0"/>
              </a:rPr>
              <a:t>Data Driven Material Modelling &amp; Simulation</a:t>
            </a:r>
            <a:br>
              <a:rPr lang="en-IN" sz="2000">
                <a:latin typeface="Calibri" panose="020F0502020204030204" pitchFamily="34" charset="0"/>
                <a:ea typeface="Calibri" panose="020F0502020204030204" pitchFamily="34" charset="0"/>
                <a:cs typeface="Calibri" panose="020F0502020204030204" pitchFamily="34" charset="0"/>
              </a:rPr>
            </a:br>
            <a:br>
              <a:rPr lang="en-IN" sz="2000">
                <a:latin typeface="Calibri" panose="020F0502020204030204" pitchFamily="34" charset="0"/>
                <a:ea typeface="Calibri" panose="020F0502020204030204" pitchFamily="34" charset="0"/>
                <a:cs typeface="Calibri" panose="020F0502020204030204" pitchFamily="34" charset="0"/>
              </a:rPr>
            </a:br>
            <a:br>
              <a:rPr lang="en-IN" sz="2000">
                <a:latin typeface="Calibri" panose="020F0502020204030204" pitchFamily="34" charset="0"/>
                <a:ea typeface="Calibri" panose="020F0502020204030204" pitchFamily="34" charset="0"/>
                <a:cs typeface="Calibri" panose="020F0502020204030204" pitchFamily="34" charset="0"/>
              </a:rPr>
            </a:br>
            <a:r>
              <a:rPr lang="en-GB" sz="2200">
                <a:latin typeface="Calibri" panose="020F0502020204030204" pitchFamily="34" charset="0"/>
                <a:ea typeface="Calibri" panose="020F0502020204030204" pitchFamily="34" charset="0"/>
                <a:cs typeface="Calibri" panose="020F0502020204030204" pitchFamily="34" charset="0"/>
              </a:rPr>
              <a:t>AURA: Autonomous Unified Research Assistant for </a:t>
            </a:r>
            <a:br>
              <a:rPr lang="en-GB" sz="2200">
                <a:latin typeface="Calibri" panose="020F0502020204030204" pitchFamily="34" charset="0"/>
                <a:ea typeface="Calibri" panose="020F0502020204030204" pitchFamily="34" charset="0"/>
                <a:cs typeface="Calibri" panose="020F0502020204030204" pitchFamily="34" charset="0"/>
              </a:rPr>
            </a:br>
            <a:r>
              <a:rPr lang="en-GB" sz="2200">
                <a:latin typeface="Calibri" panose="020F0502020204030204" pitchFamily="34" charset="0"/>
                <a:ea typeface="Calibri" panose="020F0502020204030204" pitchFamily="34" charset="0"/>
                <a:cs typeface="Calibri" panose="020F0502020204030204" pitchFamily="34" charset="0"/>
              </a:rPr>
              <a:t>Battery Materials </a:t>
            </a:r>
            <a:r>
              <a:rPr lang="en-GB" sz="2200" err="1">
                <a:latin typeface="Calibri" panose="020F0502020204030204" pitchFamily="34" charset="0"/>
                <a:ea typeface="Calibri" panose="020F0502020204030204" pitchFamily="34" charset="0"/>
                <a:cs typeface="Calibri" panose="020F0502020204030204" pitchFamily="34" charset="0"/>
              </a:rPr>
              <a:t>DiscoverY</a:t>
            </a:r>
            <a:br>
              <a:rPr lang="en-IN" sz="2000">
                <a:latin typeface="Calibri" panose="020F0502020204030204" pitchFamily="34" charset="0"/>
                <a:ea typeface="Calibri" panose="020F0502020204030204" pitchFamily="34" charset="0"/>
                <a:cs typeface="Calibri" panose="020F0502020204030204" pitchFamily="34" charset="0"/>
              </a:rPr>
            </a:br>
            <a:r>
              <a:rPr lang="en-IN" sz="2000">
                <a:latin typeface="Calibri" panose="020F0502020204030204" pitchFamily="34" charset="0"/>
                <a:ea typeface="Calibri" panose="020F0502020204030204" pitchFamily="34" charset="0"/>
                <a:cs typeface="Calibri" panose="020F0502020204030204" pitchFamily="34" charset="0"/>
              </a:rPr>
              <a:t> </a:t>
            </a:r>
            <a:br>
              <a:rPr lang="en-IN" sz="2000">
                <a:latin typeface="Calibri" panose="020F0502020204030204" pitchFamily="34" charset="0"/>
                <a:ea typeface="Calibri" panose="020F0502020204030204" pitchFamily="34" charset="0"/>
                <a:cs typeface="Calibri" panose="020F0502020204030204" pitchFamily="34" charset="0"/>
              </a:rPr>
            </a:br>
            <a:br>
              <a:rPr lang="en-IN" sz="1800">
                <a:latin typeface="Calibri" panose="020F0502020204030204" pitchFamily="34" charset="0"/>
                <a:ea typeface="Calibri" panose="020F0502020204030204" pitchFamily="34" charset="0"/>
                <a:cs typeface="Calibri" panose="020F0502020204030204" pitchFamily="34" charset="0"/>
              </a:rPr>
            </a:br>
            <a:r>
              <a:rPr lang="en-IN" sz="1800">
                <a:latin typeface="Calibri" panose="020F0502020204030204" pitchFamily="34" charset="0"/>
                <a:ea typeface="Calibri" panose="020F0502020204030204" pitchFamily="34" charset="0"/>
                <a:cs typeface="Calibri" panose="020F0502020204030204" pitchFamily="34" charset="0"/>
              </a:rPr>
              <a:t>Team 8 AIE C Batch</a:t>
            </a:r>
            <a:br>
              <a:rPr lang="en-IN" sz="1800">
                <a:latin typeface="Calibri" panose="020F0502020204030204" pitchFamily="34" charset="0"/>
                <a:ea typeface="Calibri" panose="020F0502020204030204" pitchFamily="34" charset="0"/>
                <a:cs typeface="Calibri" panose="020F0502020204030204" pitchFamily="34" charset="0"/>
              </a:rPr>
            </a:br>
            <a:br>
              <a:rPr lang="en-IN" sz="1800">
                <a:latin typeface="Calibri" panose="020F0502020204030204" pitchFamily="34" charset="0"/>
                <a:ea typeface="Calibri" panose="020F0502020204030204" pitchFamily="34" charset="0"/>
                <a:cs typeface="Calibri" panose="020F0502020204030204" pitchFamily="34" charset="0"/>
              </a:rPr>
            </a:br>
            <a:r>
              <a:rPr lang="en-IN" sz="1800">
                <a:latin typeface="Calibri" panose="020F0502020204030204" pitchFamily="34" charset="0"/>
                <a:ea typeface="Calibri" panose="020F0502020204030204" pitchFamily="34" charset="0"/>
                <a:cs typeface="Calibri" panose="020F0502020204030204" pitchFamily="34" charset="0"/>
              </a:rPr>
              <a:t>Sreeshanth K      CB.SC.U4AIE24225</a:t>
            </a:r>
            <a:br>
              <a:rPr lang="en-IN" sz="1800">
                <a:latin typeface="Calibri" panose="020F0502020204030204" pitchFamily="34" charset="0"/>
                <a:ea typeface="Calibri" panose="020F0502020204030204" pitchFamily="34" charset="0"/>
                <a:cs typeface="Calibri" panose="020F0502020204030204" pitchFamily="34" charset="0"/>
              </a:rPr>
            </a:br>
            <a:r>
              <a:rPr lang="en-IN" sz="1800">
                <a:latin typeface="Calibri" panose="020F0502020204030204" pitchFamily="34" charset="0"/>
                <a:ea typeface="Calibri" panose="020F0502020204030204" pitchFamily="34" charset="0"/>
                <a:cs typeface="Calibri" panose="020F0502020204030204" pitchFamily="34" charset="0"/>
              </a:rPr>
              <a:t>Kishore B             CB.SC.U4AIE24227</a:t>
            </a:r>
            <a:br>
              <a:rPr lang="en-IN" sz="1800">
                <a:latin typeface="Calibri" panose="020F0502020204030204" pitchFamily="34" charset="0"/>
                <a:ea typeface="Calibri" panose="020F0502020204030204" pitchFamily="34" charset="0"/>
                <a:cs typeface="Calibri" panose="020F0502020204030204" pitchFamily="34" charset="0"/>
              </a:rPr>
            </a:br>
            <a:r>
              <a:rPr lang="en-IN" sz="1800">
                <a:latin typeface="Calibri" panose="020F0502020204030204" pitchFamily="34" charset="0"/>
                <a:ea typeface="Calibri" panose="020F0502020204030204" pitchFamily="34" charset="0"/>
                <a:cs typeface="Calibri" panose="020F0502020204030204" pitchFamily="34" charset="0"/>
              </a:rPr>
              <a:t>Rahul L S             CB.SC.U4AIE24248</a:t>
            </a:r>
            <a:br>
              <a:rPr lang="en-IN" sz="1800">
                <a:latin typeface="Calibri" panose="020F0502020204030204" pitchFamily="34" charset="0"/>
                <a:ea typeface="Calibri" panose="020F0502020204030204" pitchFamily="34" charset="0"/>
                <a:cs typeface="Calibri" panose="020F0502020204030204" pitchFamily="34" charset="0"/>
              </a:rPr>
            </a:br>
            <a:r>
              <a:rPr lang="en-IN" sz="1800">
                <a:latin typeface="Calibri" panose="020F0502020204030204" pitchFamily="34" charset="0"/>
                <a:ea typeface="Calibri" panose="020F0502020204030204" pitchFamily="34" charset="0"/>
                <a:cs typeface="Calibri" panose="020F0502020204030204" pitchFamily="34" charset="0"/>
              </a:rPr>
              <a:t>Manas T              CB.SC.U4AIE24257</a:t>
            </a:r>
            <a:br>
              <a:rPr lang="en-IN" sz="1800">
                <a:latin typeface="Calibri" panose="020F0502020204030204" pitchFamily="34" charset="0"/>
                <a:ea typeface="Calibri" panose="020F0502020204030204" pitchFamily="34" charset="0"/>
                <a:cs typeface="Calibri" panose="020F0502020204030204" pitchFamily="34" charset="0"/>
              </a:rPr>
            </a:br>
            <a:r>
              <a:rPr lang="en-IN" sz="1800" err="1">
                <a:latin typeface="Calibri" panose="020F0502020204030204" pitchFamily="34" charset="0"/>
                <a:ea typeface="Calibri" panose="020F0502020204030204" pitchFamily="34" charset="0"/>
                <a:cs typeface="Calibri" panose="020F0502020204030204" pitchFamily="34" charset="0"/>
              </a:rPr>
              <a:t>Zahwa</a:t>
            </a:r>
            <a:r>
              <a:rPr lang="en-IN" sz="1800">
                <a:latin typeface="Calibri" panose="020F0502020204030204" pitchFamily="34" charset="0"/>
                <a:ea typeface="Calibri" panose="020F0502020204030204" pitchFamily="34" charset="0"/>
                <a:cs typeface="Calibri" panose="020F0502020204030204" pitchFamily="34" charset="0"/>
              </a:rPr>
              <a:t> K              CB.SC.U4AIE24261</a:t>
            </a:r>
            <a:br>
              <a:rPr lang="en-IN" sz="2000">
                <a:latin typeface="Calibri" panose="020F0502020204030204" pitchFamily="34" charset="0"/>
                <a:ea typeface="Calibri" panose="020F0502020204030204" pitchFamily="34" charset="0"/>
                <a:cs typeface="Calibri" panose="020F0502020204030204" pitchFamily="34" charset="0"/>
              </a:rPr>
            </a:br>
            <a:endParaRPr lang="en-US" sz="2000">
              <a:latin typeface="Calibri" panose="020F0502020204030204" pitchFamily="34" charset="0"/>
              <a:ea typeface="Calibri" panose="020F0502020204030204" pitchFamily="34" charset="0"/>
              <a:cs typeface="Calibri" panose="020F0502020204030204" pitchFamily="34" charset="0"/>
            </a:endParaRPr>
          </a:p>
        </p:txBody>
      </p:sp>
      <p:pic>
        <p:nvPicPr>
          <p:cNvPr id="2" name="Picture 1" descr="Logo">
            <a:extLst>
              <a:ext uri="{FF2B5EF4-FFF2-40B4-BE49-F238E27FC236}">
                <a16:creationId xmlns:a16="http://schemas.microsoft.com/office/drawing/2014/main" id="{6C9DB3E5-2F2B-9BF9-5FFB-AAA68DA3476B}"/>
              </a:ext>
            </a:extLst>
          </p:cNvPr>
          <p:cNvPicPr>
            <a:picLocks noChangeAspect="1"/>
          </p:cNvPicPr>
          <p:nvPr/>
        </p:nvPicPr>
        <p:blipFill>
          <a:blip r:embed="rId3"/>
          <a:stretch>
            <a:fillRect/>
          </a:stretch>
        </p:blipFill>
        <p:spPr>
          <a:xfrm>
            <a:off x="1161599" y="884341"/>
            <a:ext cx="5443025" cy="1204436"/>
          </a:xfrm>
          <a:prstGeom prst="rect">
            <a:avLst/>
          </a:prstGeom>
        </p:spPr>
      </p:pic>
    </p:spTree>
    <p:extLst>
      <p:ext uri="{BB962C8B-B14F-4D97-AF65-F5344CB8AC3E}">
        <p14:creationId xmlns:p14="http://schemas.microsoft.com/office/powerpoint/2010/main" val="232390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a:xfrm>
            <a:off x="70002" y="-366431"/>
            <a:ext cx="6623040" cy="1421898"/>
          </a:xfrm>
        </p:spPr>
        <p:txBody>
          <a:bodyPr>
            <a:normAutofit/>
          </a:bodyPr>
          <a:lstStyle/>
          <a:p>
            <a:r>
              <a:rPr lang="en-US"/>
              <a:t>Table of Contents</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a:xfrm>
            <a:off x="179294" y="985126"/>
            <a:ext cx="7449670" cy="5298142"/>
          </a:xfrm>
        </p:spPr>
        <p:txBody>
          <a:bodyPr>
            <a:normAutofit/>
          </a:bodyPr>
          <a:lstStyle/>
          <a:p>
            <a:pPr marL="228600" indent="-228600">
              <a:buAutoNum type="arabicPeriod"/>
            </a:pPr>
            <a:r>
              <a:rPr lang="en-IN" sz="1200" b="1">
                <a:solidFill>
                  <a:schemeClr val="tx1"/>
                </a:solidFill>
              </a:rPr>
              <a:t>Introduction </a:t>
            </a:r>
            <a:endParaRPr lang="en-IN" sz="1200" b="1">
              <a:solidFill>
                <a:schemeClr val="tx1"/>
              </a:solidFill>
              <a:ea typeface="Meiryo"/>
            </a:endParaRPr>
          </a:p>
          <a:p>
            <a:pPr marL="228600" indent="-228600">
              <a:buAutoNum type="arabicPeriod"/>
            </a:pPr>
            <a:r>
              <a:rPr lang="en-IN" sz="1200" b="1">
                <a:solidFill>
                  <a:schemeClr val="tx1"/>
                </a:solidFill>
              </a:rPr>
              <a:t>Problem Statement </a:t>
            </a:r>
            <a:endParaRPr lang="en-IN" sz="1200" b="1">
              <a:solidFill>
                <a:schemeClr val="tx1"/>
              </a:solidFill>
              <a:ea typeface="Meiryo"/>
            </a:endParaRPr>
          </a:p>
          <a:p>
            <a:pPr marL="228600" indent="-228600">
              <a:buAutoNum type="arabicPeriod"/>
            </a:pPr>
            <a:r>
              <a:rPr lang="en-IN" sz="1200" b="1">
                <a:solidFill>
                  <a:schemeClr val="tx1"/>
                </a:solidFill>
              </a:rPr>
              <a:t>Literature Review/Survey </a:t>
            </a:r>
            <a:endParaRPr lang="en-IN" sz="1200" b="1">
              <a:solidFill>
                <a:schemeClr val="tx1"/>
              </a:solidFill>
              <a:ea typeface="Meiryo"/>
            </a:endParaRPr>
          </a:p>
          <a:p>
            <a:pPr marL="228600" indent="-228600">
              <a:buAutoNum type="arabicPeriod"/>
            </a:pPr>
            <a:r>
              <a:rPr lang="en-IN" sz="1200" b="1">
                <a:solidFill>
                  <a:schemeClr val="tx1"/>
                </a:solidFill>
              </a:rPr>
              <a:t>Research Gap </a:t>
            </a:r>
            <a:endParaRPr lang="en-IN" sz="1200" b="1">
              <a:solidFill>
                <a:schemeClr val="tx1"/>
              </a:solidFill>
              <a:ea typeface="Meiryo"/>
            </a:endParaRPr>
          </a:p>
          <a:p>
            <a:pPr marL="228600" indent="-228600">
              <a:buAutoNum type="arabicPeriod"/>
            </a:pPr>
            <a:r>
              <a:rPr lang="en-IN" sz="1200" b="1">
                <a:solidFill>
                  <a:schemeClr val="tx1"/>
                </a:solidFill>
              </a:rPr>
              <a:t>Motivation </a:t>
            </a:r>
            <a:endParaRPr lang="en-IN" sz="1200" b="1">
              <a:solidFill>
                <a:schemeClr val="tx1"/>
              </a:solidFill>
              <a:ea typeface="Meiryo"/>
            </a:endParaRPr>
          </a:p>
          <a:p>
            <a:pPr marL="228600" indent="-228600">
              <a:buAutoNum type="arabicPeriod"/>
            </a:pPr>
            <a:r>
              <a:rPr lang="en-IN" sz="1200" b="1">
                <a:solidFill>
                  <a:schemeClr val="tx1"/>
                </a:solidFill>
              </a:rPr>
              <a:t>Project Objectives </a:t>
            </a:r>
            <a:endParaRPr lang="en-IN" sz="1200" b="1">
              <a:solidFill>
                <a:schemeClr val="tx1"/>
              </a:solidFill>
              <a:ea typeface="Meiryo"/>
            </a:endParaRPr>
          </a:p>
          <a:p>
            <a:pPr marL="228600" indent="-228600">
              <a:buAutoNum type="arabicPeriod"/>
            </a:pPr>
            <a:r>
              <a:rPr lang="en-IN" sz="1200" b="1">
                <a:solidFill>
                  <a:schemeClr val="tx1"/>
                </a:solidFill>
              </a:rPr>
              <a:t>Methodology / Proposed Work Pipeline </a:t>
            </a:r>
            <a:endParaRPr lang="en-IN" sz="1200" b="1">
              <a:solidFill>
                <a:schemeClr val="tx1"/>
              </a:solidFill>
              <a:ea typeface="Meiryo"/>
            </a:endParaRPr>
          </a:p>
          <a:p>
            <a:pPr marL="228600" indent="-228600">
              <a:buAutoNum type="arabicPeriod"/>
            </a:pPr>
            <a:r>
              <a:rPr lang="en-IN" sz="1200" b="1">
                <a:solidFill>
                  <a:schemeClr val="tx1"/>
                </a:solidFill>
              </a:rPr>
              <a:t>Tech Stack </a:t>
            </a:r>
            <a:endParaRPr lang="en-IN" sz="1200" b="1">
              <a:solidFill>
                <a:schemeClr val="tx1"/>
              </a:solidFill>
              <a:ea typeface="Meiryo"/>
            </a:endParaRPr>
          </a:p>
          <a:p>
            <a:pPr marL="228600" indent="-228600">
              <a:buAutoNum type="arabicPeriod"/>
            </a:pPr>
            <a:r>
              <a:rPr lang="en-IN" sz="1200" b="1">
                <a:solidFill>
                  <a:schemeClr val="tx1"/>
                </a:solidFill>
              </a:rPr>
              <a:t>Preliminary Results and Discussion</a:t>
            </a:r>
            <a:endParaRPr lang="en-IN" sz="1200" b="1">
              <a:solidFill>
                <a:schemeClr val="tx1"/>
              </a:solidFill>
              <a:ea typeface="Meiryo"/>
            </a:endParaRPr>
          </a:p>
          <a:p>
            <a:pPr marL="228600" indent="-228600">
              <a:buAutoNum type="arabicPeriod"/>
            </a:pPr>
            <a:r>
              <a:rPr lang="en-IN" sz="1200" b="1">
                <a:solidFill>
                  <a:schemeClr val="tx1"/>
                </a:solidFill>
              </a:rPr>
              <a:t>Workflow </a:t>
            </a:r>
            <a:endParaRPr lang="en-IN" sz="1200" b="1">
              <a:solidFill>
                <a:schemeClr val="tx1"/>
              </a:solidFill>
              <a:ea typeface="Meiryo"/>
            </a:endParaRPr>
          </a:p>
          <a:p>
            <a:pPr marL="228600" indent="-228600">
              <a:buAutoNum type="arabicPeriod"/>
            </a:pPr>
            <a:r>
              <a:rPr lang="en-IN" sz="1200" b="1">
                <a:solidFill>
                  <a:schemeClr val="tx1"/>
                </a:solidFill>
              </a:rPr>
              <a:t>Work Completed &amp; Work Remaining </a:t>
            </a:r>
            <a:endParaRPr lang="en-IN" sz="1200" b="1">
              <a:solidFill>
                <a:schemeClr val="tx1"/>
              </a:solidFill>
              <a:ea typeface="Meiryo"/>
            </a:endParaRPr>
          </a:p>
          <a:p>
            <a:pPr marL="228600" indent="-228600">
              <a:buAutoNum type="arabicPeriod"/>
            </a:pPr>
            <a:r>
              <a:rPr lang="en-IN" sz="1200" b="1">
                <a:solidFill>
                  <a:schemeClr val="tx1"/>
                </a:solidFill>
              </a:rPr>
              <a:t>References</a:t>
            </a:r>
            <a:endParaRPr lang="en-US" sz="1200" b="1">
              <a:solidFill>
                <a:schemeClr val="tx1"/>
              </a:solidFill>
              <a:ea typeface="Meiryo"/>
            </a:endParaRPr>
          </a:p>
        </p:txBody>
      </p:sp>
    </p:spTree>
    <p:extLst>
      <p:ext uri="{BB962C8B-B14F-4D97-AF65-F5344CB8AC3E}">
        <p14:creationId xmlns:p14="http://schemas.microsoft.com/office/powerpoint/2010/main" val="3758760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0F24C-4BA5-BD9C-4404-ADA95004A997}"/>
            </a:ext>
          </a:extLst>
        </p:cNvPr>
        <p:cNvGrpSpPr/>
        <p:nvPr/>
      </p:nvGrpSpPr>
      <p:grpSpPr>
        <a:xfrm>
          <a:off x="0" y="0"/>
          <a:ext cx="0" cy="0"/>
          <a:chOff x="0" y="0"/>
          <a:chExt cx="0" cy="0"/>
        </a:xfrm>
      </p:grpSpPr>
      <p:sp>
        <p:nvSpPr>
          <p:cNvPr id="2" name="TextBox 1"/>
          <p:cNvSpPr txBox="1"/>
          <p:nvPr/>
        </p:nvSpPr>
        <p:spPr>
          <a:xfrm>
            <a:off x="548640" y="256032"/>
            <a:ext cx="11091672" cy="868680"/>
          </a:xfrm>
          <a:prstGeom prst="rect">
            <a:avLst/>
          </a:prstGeom>
          <a:noFill/>
        </p:spPr>
        <p:txBody>
          <a:bodyPr wrap="square" anchor="ctr">
            <a:spAutoFit/>
          </a:bodyPr>
          <a:lstStyle/>
          <a:p>
            <a:pPr algn="l"/>
            <a:r>
              <a:rPr sz="3000" b="1" i="0">
                <a:solidFill>
                  <a:srgbClr val="FFFFFF"/>
                </a:solidFill>
                <a:latin typeface="Calibri"/>
              </a:rPr>
              <a:t>1. Introduction</a:t>
            </a:r>
          </a:p>
        </p:txBody>
      </p:sp>
      <p:sp>
        <p:nvSpPr>
          <p:cNvPr id="3" name="TextBox 2"/>
          <p:cNvSpPr txBox="1"/>
          <p:nvPr/>
        </p:nvSpPr>
        <p:spPr>
          <a:xfrm>
            <a:off x="193040" y="1457960"/>
            <a:ext cx="12279125" cy="4401205"/>
          </a:xfrm>
          <a:prstGeom prst="rect">
            <a:avLst/>
          </a:prstGeom>
          <a:noFill/>
        </p:spPr>
        <p:txBody>
          <a:bodyPr wrap="square" lIns="91440" tIns="45720" rIns="91440" bIns="45720" anchor="t">
            <a:spAutoFit/>
          </a:bodyPr>
          <a:lstStyle/>
          <a:p>
            <a:pPr marL="285750" indent="-285750">
              <a:buFont typeface="Arial"/>
              <a:buChar char="•"/>
            </a:pPr>
            <a:r>
              <a:rPr lang="en-GB" sz="2000">
                <a:latin typeface="Calibri"/>
                <a:ea typeface="Calibri"/>
                <a:cs typeface="Calibri"/>
              </a:rPr>
              <a:t> The rapid transition towards electric vehicles (EVs) and grid-scale renewable energy storage has created an unprecedented demand for next-generation batteries (e.g., solid-state, high-capacity, cobalt-free).</a:t>
            </a:r>
            <a:endParaRPr lang="en-US" sz="2000">
              <a:latin typeface="Calibri"/>
              <a:ea typeface="Calibri"/>
              <a:cs typeface="Calibri"/>
            </a:endParaRPr>
          </a:p>
          <a:p>
            <a:pPr marL="285750" indent="-285750">
              <a:buFont typeface="Arial"/>
              <a:buChar char="•"/>
            </a:pPr>
            <a:endParaRPr lang="en-GB" sz="2000">
              <a:latin typeface="Calibri"/>
              <a:ea typeface="Calibri"/>
              <a:cs typeface="Calibri"/>
            </a:endParaRPr>
          </a:p>
          <a:p>
            <a:pPr marL="285750" indent="-285750">
              <a:buFont typeface="Arial"/>
              <a:buChar char="•"/>
            </a:pPr>
            <a:r>
              <a:rPr lang="en-GB" sz="2000">
                <a:latin typeface="Calibri"/>
                <a:ea typeface="Calibri"/>
                <a:cs typeface="Calibri"/>
              </a:rPr>
              <a:t> Historically, discovering </a:t>
            </a:r>
            <a:r>
              <a:rPr lang="en-GB" sz="2000" i="0">
                <a:latin typeface="Calibri"/>
                <a:ea typeface="Calibri"/>
                <a:cs typeface="Calibri"/>
              </a:rPr>
              <a:t>novel battery materials (cathodes, anodes,</a:t>
            </a:r>
            <a:r>
              <a:rPr lang="en-GB" sz="2000">
                <a:latin typeface="Calibri"/>
                <a:ea typeface="Calibri"/>
                <a:cs typeface="Calibri"/>
              </a:rPr>
              <a:t> </a:t>
            </a:r>
            <a:r>
              <a:rPr lang="en-GB" sz="2000" i="0">
                <a:latin typeface="Calibri"/>
                <a:ea typeface="Calibri"/>
                <a:cs typeface="Calibri"/>
              </a:rPr>
              <a:t>electrolytes) is </a:t>
            </a:r>
            <a:r>
              <a:rPr lang="en-GB" sz="2000">
                <a:latin typeface="Calibri"/>
                <a:ea typeface="Calibri"/>
                <a:cs typeface="Calibri"/>
              </a:rPr>
              <a:t>a painstakingly </a:t>
            </a:r>
            <a:r>
              <a:rPr lang="en-GB" sz="2000" i="0">
                <a:latin typeface="Calibri"/>
                <a:ea typeface="Calibri"/>
                <a:cs typeface="Calibri"/>
              </a:rPr>
              <a:t>slow, manual </a:t>
            </a:r>
            <a:r>
              <a:rPr lang="en-GB" sz="2000">
                <a:latin typeface="Calibri"/>
                <a:ea typeface="Calibri"/>
                <a:cs typeface="Calibri"/>
              </a:rPr>
              <a:t>trial-and-error process in physical laboratories (often taking 10+ years from discovery to commercialization).</a:t>
            </a:r>
            <a:endParaRPr sz="2000">
              <a:latin typeface="Calibri"/>
              <a:ea typeface="Calibri"/>
              <a:cs typeface="Calibri"/>
            </a:endParaRPr>
          </a:p>
          <a:p>
            <a:pPr marL="285750" indent="-285750">
              <a:buFont typeface="Arial"/>
              <a:buChar char="•"/>
            </a:pPr>
            <a:endParaRPr lang="en-GB" sz="2000">
              <a:latin typeface="Calibri"/>
              <a:ea typeface="Calibri"/>
              <a:cs typeface="Calibri"/>
            </a:endParaRPr>
          </a:p>
          <a:p>
            <a:pPr marL="285750" indent="-285750">
              <a:buFont typeface="Arial"/>
              <a:buChar char="•"/>
            </a:pPr>
            <a:r>
              <a:rPr lang="en-GB" sz="2000">
                <a:latin typeface="Calibri"/>
                <a:ea typeface="Calibri"/>
                <a:cs typeface="Calibri"/>
              </a:rPr>
              <a:t> Recent breakthroughs in </a:t>
            </a:r>
            <a:r>
              <a:rPr lang="en-GB" sz="2000" i="0">
                <a:latin typeface="Calibri"/>
                <a:ea typeface="Calibri"/>
                <a:cs typeface="Calibri"/>
              </a:rPr>
              <a:t>Large Language Models (LLMs) </a:t>
            </a:r>
            <a:r>
              <a:rPr lang="en-GB" sz="2000">
                <a:latin typeface="Calibri"/>
                <a:ea typeface="Calibri"/>
                <a:cs typeface="Calibri"/>
              </a:rPr>
              <a:t>and computational chemistry offer the potential to dramatically </a:t>
            </a:r>
            <a:r>
              <a:rPr lang="en-GB" sz="2000" i="0">
                <a:latin typeface="Calibri"/>
                <a:ea typeface="Calibri"/>
                <a:cs typeface="Calibri"/>
              </a:rPr>
              <a:t>accelerate discovery by mining vast amounts of </a:t>
            </a:r>
            <a:r>
              <a:rPr lang="en-GB" sz="2000">
                <a:latin typeface="Calibri"/>
                <a:ea typeface="Calibri"/>
                <a:cs typeface="Calibri"/>
              </a:rPr>
              <a:t>scientific literature and running predictive simulations</a:t>
            </a:r>
            <a:r>
              <a:rPr lang="en-GB" sz="2000" i="0">
                <a:latin typeface="Calibri"/>
                <a:ea typeface="Calibri"/>
                <a:cs typeface="Calibri"/>
              </a:rPr>
              <a:t>.</a:t>
            </a:r>
            <a:endParaRPr lang="en-GB" sz="2000">
              <a:latin typeface="Calibri"/>
              <a:ea typeface="Calibri"/>
              <a:cs typeface="Calibri"/>
            </a:endParaRPr>
          </a:p>
          <a:p>
            <a:pPr marL="285750" indent="-285750">
              <a:buFont typeface="Arial"/>
              <a:buChar char="•"/>
            </a:pPr>
            <a:endParaRPr lang="en-GB" sz="2000">
              <a:latin typeface="Calibri"/>
              <a:ea typeface="Calibri"/>
              <a:cs typeface="Calibri"/>
            </a:endParaRPr>
          </a:p>
          <a:p>
            <a:pPr marL="285750" indent="-285750">
              <a:buFont typeface="Arial"/>
              <a:buChar char="•"/>
            </a:pPr>
            <a:r>
              <a:rPr lang="en-GB" sz="2000" i="0">
                <a:latin typeface="Calibri"/>
                <a:ea typeface="Calibri"/>
                <a:cs typeface="Calibri"/>
              </a:rPr>
              <a:t>AURA</a:t>
            </a:r>
            <a:r>
              <a:rPr lang="en-GB" sz="2000">
                <a:latin typeface="Calibri"/>
                <a:ea typeface="Calibri"/>
                <a:cs typeface="Calibri"/>
              </a:rPr>
              <a:t> (Autonomous Unified Research Assistant) is a domain-specific multi agent system.</a:t>
            </a:r>
          </a:p>
          <a:p>
            <a:pPr marL="285750" indent="-285750">
              <a:buFont typeface="Arial"/>
              <a:buChar char="•"/>
            </a:pPr>
            <a:r>
              <a:rPr lang="en-GB" sz="2000">
                <a:latin typeface="Calibri"/>
                <a:ea typeface="Calibri"/>
                <a:cs typeface="Calibri"/>
              </a:rPr>
              <a:t> </a:t>
            </a:r>
            <a:r>
              <a:rPr lang="en-GB" sz="2000" i="0">
                <a:latin typeface="Calibri"/>
                <a:ea typeface="Calibri"/>
                <a:cs typeface="Calibri"/>
              </a:rPr>
              <a:t>It </a:t>
            </a:r>
            <a:r>
              <a:rPr lang="en-GB" sz="2000">
                <a:latin typeface="Calibri"/>
                <a:ea typeface="Calibri"/>
                <a:cs typeface="Calibri"/>
              </a:rPr>
              <a:t>introduces a completely novel architecture combining a </a:t>
            </a:r>
            <a:r>
              <a:rPr lang="en-GB" sz="2000" i="0">
                <a:latin typeface="Calibri"/>
                <a:ea typeface="Calibri"/>
                <a:cs typeface="Calibri"/>
              </a:rPr>
              <a:t>Hybrid </a:t>
            </a:r>
            <a:r>
              <a:rPr lang="en-GB" sz="2000">
                <a:latin typeface="Calibri"/>
                <a:ea typeface="Calibri"/>
                <a:cs typeface="Calibri"/>
              </a:rPr>
              <a:t>Graph RAG</a:t>
            </a:r>
            <a:r>
              <a:rPr lang="en-GB" sz="2000" i="0">
                <a:latin typeface="Calibri"/>
                <a:ea typeface="Calibri"/>
                <a:cs typeface="Calibri"/>
              </a:rPr>
              <a:t> </a:t>
            </a:r>
            <a:r>
              <a:rPr lang="en-GB" sz="2000">
                <a:latin typeface="Calibri"/>
                <a:ea typeface="Calibri"/>
                <a:cs typeface="Calibri"/>
              </a:rPr>
              <a:t>Engine </a:t>
            </a:r>
            <a:r>
              <a:rPr lang="en-GB" sz="2000" i="0">
                <a:latin typeface="Calibri"/>
                <a:ea typeface="Calibri"/>
                <a:cs typeface="Calibri"/>
              </a:rPr>
              <a:t>(</a:t>
            </a:r>
            <a:r>
              <a:rPr lang="en-GB" sz="2000">
                <a:latin typeface="Calibri"/>
                <a:ea typeface="Calibri"/>
                <a:cs typeface="Calibri"/>
              </a:rPr>
              <a:t>semantic Vector</a:t>
            </a:r>
            <a:r>
              <a:rPr lang="en-GB" sz="2000" i="0">
                <a:latin typeface="Calibri"/>
                <a:ea typeface="Calibri"/>
                <a:cs typeface="Calibri"/>
              </a:rPr>
              <a:t> Search + </a:t>
            </a:r>
            <a:r>
              <a:rPr lang="en-GB" sz="2000">
                <a:latin typeface="Calibri"/>
                <a:ea typeface="Calibri"/>
                <a:cs typeface="Calibri"/>
              </a:rPr>
              <a:t>strict </a:t>
            </a:r>
            <a:r>
              <a:rPr lang="en-GB" sz="2000" i="0">
                <a:latin typeface="Calibri"/>
                <a:ea typeface="Calibri"/>
                <a:cs typeface="Calibri"/>
              </a:rPr>
              <a:t>Knowledge Graphs) to </a:t>
            </a:r>
            <a:r>
              <a:rPr lang="en-GB" sz="2000">
                <a:latin typeface="Calibri"/>
                <a:ea typeface="Calibri"/>
                <a:cs typeface="Calibri"/>
              </a:rPr>
              <a:t>autonomously </a:t>
            </a:r>
            <a:r>
              <a:rPr lang="en-GB" sz="2000" i="0">
                <a:latin typeface="Calibri"/>
                <a:ea typeface="Calibri"/>
                <a:cs typeface="Calibri"/>
              </a:rPr>
              <a:t>evolve, validate, and predict </a:t>
            </a:r>
            <a:r>
              <a:rPr lang="en-GB" sz="2000">
                <a:latin typeface="Calibri"/>
                <a:ea typeface="Calibri"/>
                <a:cs typeface="Calibri"/>
              </a:rPr>
              <a:t>the </a:t>
            </a:r>
            <a:r>
              <a:rPr lang="en-GB" sz="2000" i="0">
                <a:latin typeface="Calibri"/>
                <a:ea typeface="Calibri"/>
                <a:cs typeface="Calibri"/>
              </a:rPr>
              <a:t>properties </a:t>
            </a:r>
            <a:r>
              <a:rPr lang="en-GB" sz="2000">
                <a:latin typeface="Calibri"/>
                <a:ea typeface="Calibri"/>
                <a:cs typeface="Calibri"/>
              </a:rPr>
              <a:t>of new</a:t>
            </a:r>
            <a:r>
              <a:rPr lang="en-GB" sz="2000" i="0">
                <a:latin typeface="Calibri"/>
                <a:ea typeface="Calibri"/>
                <a:cs typeface="Calibri"/>
              </a:rPr>
              <a:t> battery materials entirely in silico.</a:t>
            </a:r>
            <a:endParaRPr lang="en-GB">
              <a:ea typeface="Meiryo"/>
            </a:endParaRPr>
          </a:p>
        </p:txBody>
      </p:sp>
    </p:spTree>
    <p:extLst>
      <p:ext uri="{BB962C8B-B14F-4D97-AF65-F5344CB8AC3E}">
        <p14:creationId xmlns:p14="http://schemas.microsoft.com/office/powerpoint/2010/main" val="33012521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31B64-DC99-60C2-FD9B-B218CF33A5F7}"/>
            </a:ext>
          </a:extLst>
        </p:cNvPr>
        <p:cNvGrpSpPr/>
        <p:nvPr/>
      </p:nvGrpSpPr>
      <p:grpSpPr>
        <a:xfrm>
          <a:off x="0" y="0"/>
          <a:ext cx="0" cy="0"/>
          <a:chOff x="0" y="0"/>
          <a:chExt cx="0" cy="0"/>
        </a:xfrm>
      </p:grpSpPr>
      <p:sp>
        <p:nvSpPr>
          <p:cNvPr id="2" name="TextBox 1"/>
          <p:cNvSpPr txBox="1"/>
          <p:nvPr/>
        </p:nvSpPr>
        <p:spPr>
          <a:xfrm>
            <a:off x="548640" y="256032"/>
            <a:ext cx="11091672" cy="868680"/>
          </a:xfrm>
          <a:prstGeom prst="rect">
            <a:avLst/>
          </a:prstGeom>
          <a:noFill/>
        </p:spPr>
        <p:txBody>
          <a:bodyPr wrap="square" anchor="ctr">
            <a:spAutoFit/>
          </a:bodyPr>
          <a:lstStyle/>
          <a:p>
            <a:pPr algn="l"/>
            <a:r>
              <a:rPr sz="3000" b="1" i="0">
                <a:solidFill>
                  <a:srgbClr val="FFFFFF"/>
                </a:solidFill>
                <a:latin typeface="Calibri"/>
              </a:rPr>
              <a:t>2. Problem Statement</a:t>
            </a:r>
          </a:p>
        </p:txBody>
      </p:sp>
      <p:sp>
        <p:nvSpPr>
          <p:cNvPr id="6" name="TextBox 5">
            <a:extLst>
              <a:ext uri="{FF2B5EF4-FFF2-40B4-BE49-F238E27FC236}">
                <a16:creationId xmlns:a16="http://schemas.microsoft.com/office/drawing/2014/main" id="{E2C1A320-77DE-6610-F9C9-ACA7C062D6B1}"/>
              </a:ext>
            </a:extLst>
          </p:cNvPr>
          <p:cNvSpPr txBox="1"/>
          <p:nvPr/>
        </p:nvSpPr>
        <p:spPr>
          <a:xfrm>
            <a:off x="339101" y="1591168"/>
            <a:ext cx="11412064"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latin typeface="Calibri"/>
                <a:ea typeface="Calibri"/>
                <a:cs typeface="Calibri"/>
              </a:rPr>
              <a:t>Battery research spans multiple disciplines (materials science, electrochemistry, physics). Crucial knowledge is scattered across thousands of disconnected academic papers and databases, making it impossible for a human researcher to synthesize all existing data.</a:t>
            </a:r>
            <a:endParaRPr lang="en-US" sz="3600">
              <a:latin typeface="Calibri"/>
              <a:ea typeface="Calibri"/>
              <a:cs typeface="Calibri"/>
            </a:endParaRPr>
          </a:p>
          <a:p>
            <a:pPr marL="285750" indent="-285750">
              <a:buFont typeface="Arial"/>
              <a:buChar char="•"/>
            </a:pPr>
            <a:endParaRPr lang="en-US" sz="2000">
              <a:latin typeface="Calibri"/>
              <a:ea typeface="Calibri"/>
              <a:cs typeface="Calibri"/>
            </a:endParaRPr>
          </a:p>
          <a:p>
            <a:pPr marL="285750" indent="-285750">
              <a:buFont typeface="Arial"/>
              <a:buChar char="•"/>
            </a:pPr>
            <a:r>
              <a:rPr lang="en-US" sz="2000">
                <a:latin typeface="Calibri"/>
                <a:ea typeface="Calibri"/>
                <a:cs typeface="Calibri"/>
              </a:rPr>
              <a:t>Standard LLMs and naive RAG (Retrieval-Augmented Generation) systems often fail catastrophically when applied to chemistry. They hallucinate chemically impossible structures (e.g., swapping incompatible periodic groups or breaking valence rules) because they lack an understanding of rigid physical laws.</a:t>
            </a:r>
            <a:endParaRPr lang="en-US" sz="3600">
              <a:latin typeface="Calibri"/>
              <a:ea typeface="Calibri"/>
              <a:cs typeface="Calibri"/>
            </a:endParaRPr>
          </a:p>
          <a:p>
            <a:pPr marL="285750" indent="-285750">
              <a:buFont typeface="Arial"/>
              <a:buChar char="•"/>
            </a:pPr>
            <a:endParaRPr lang="en-US" sz="2000">
              <a:latin typeface="Calibri"/>
              <a:ea typeface="Calibri"/>
              <a:cs typeface="Calibri"/>
            </a:endParaRPr>
          </a:p>
          <a:p>
            <a:pPr marL="285750" indent="-285750">
              <a:buFont typeface="Arial"/>
              <a:buChar char="•"/>
            </a:pPr>
            <a:r>
              <a:rPr lang="en-US" sz="2000">
                <a:latin typeface="Calibri"/>
                <a:ea typeface="Calibri"/>
                <a:cs typeface="Calibri"/>
              </a:rPr>
              <a:t>While there are AI "chatbots" that can retrieve material data, they are entirely passive. There is a critical lack of autonomous agentic systems that can actively </a:t>
            </a:r>
            <a:r>
              <a:rPr lang="en-US" sz="2000" i="1">
                <a:latin typeface="Calibri"/>
                <a:ea typeface="Calibri"/>
                <a:cs typeface="Calibri"/>
              </a:rPr>
              <a:t>design, mutate, and rigorously validate</a:t>
            </a:r>
            <a:r>
              <a:rPr lang="en-US" sz="2000">
                <a:latin typeface="Calibri"/>
                <a:ea typeface="Calibri"/>
                <a:cs typeface="Calibri"/>
              </a:rPr>
              <a:t> novel materials based on specific user-defined constraints </a:t>
            </a:r>
          </a:p>
        </p:txBody>
      </p:sp>
    </p:spTree>
    <p:extLst>
      <p:ext uri="{BB962C8B-B14F-4D97-AF65-F5344CB8AC3E}">
        <p14:creationId xmlns:p14="http://schemas.microsoft.com/office/powerpoint/2010/main" val="2526055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C376A-1DD5-D24A-281E-B64C27E61F62}"/>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sz="3000" b="1" i="0">
                <a:solidFill>
                  <a:srgbClr val="FFFFFF"/>
                </a:solidFill>
                <a:latin typeface="Calibri"/>
              </a:rPr>
              <a:t>3. Literature Review </a:t>
            </a:r>
          </a:p>
        </p:txBody>
      </p:sp>
      <p:graphicFrame>
        <p:nvGraphicFramePr>
          <p:cNvPr id="4" name="Table 3"/>
          <p:cNvGraphicFramePr>
            <a:graphicFrameLocks noGrp="1"/>
          </p:cNvGraphicFramePr>
          <p:nvPr>
            <p:extLst>
              <p:ext uri="{D42A27DB-BD31-4B8C-83A1-F6EECF244321}">
                <p14:modId xmlns:p14="http://schemas.microsoft.com/office/powerpoint/2010/main" val="2845405907"/>
              </p:ext>
            </p:extLst>
          </p:nvPr>
        </p:nvGraphicFramePr>
        <p:xfrm>
          <a:off x="-10160" y="1351280"/>
          <a:ext cx="12201255" cy="4754880"/>
        </p:xfrm>
        <a:graphic>
          <a:graphicData uri="http://schemas.openxmlformats.org/drawingml/2006/table">
            <a:tbl>
              <a:tblPr firstRow="1" bandRow="1">
                <a:tableStyleId>{5C22544A-7EE6-4342-B048-85BDC9FD1C3A}</a:tableStyleId>
              </a:tblPr>
              <a:tblGrid>
                <a:gridCol w="754405">
                  <a:extLst>
                    <a:ext uri="{9D8B030D-6E8A-4147-A177-3AD203B41FA5}">
                      <a16:colId xmlns:a16="http://schemas.microsoft.com/office/drawing/2014/main" val="20000"/>
                    </a:ext>
                  </a:extLst>
                </a:gridCol>
                <a:gridCol w="4073792">
                  <a:extLst>
                    <a:ext uri="{9D8B030D-6E8A-4147-A177-3AD203B41FA5}">
                      <a16:colId xmlns:a16="http://schemas.microsoft.com/office/drawing/2014/main" val="20001"/>
                    </a:ext>
                  </a:extLst>
                </a:gridCol>
                <a:gridCol w="2564979">
                  <a:extLst>
                    <a:ext uri="{9D8B030D-6E8A-4147-A177-3AD203B41FA5}">
                      <a16:colId xmlns:a16="http://schemas.microsoft.com/office/drawing/2014/main" val="20002"/>
                    </a:ext>
                  </a:extLst>
                </a:gridCol>
                <a:gridCol w="4103968">
                  <a:extLst>
                    <a:ext uri="{9D8B030D-6E8A-4147-A177-3AD203B41FA5}">
                      <a16:colId xmlns:a16="http://schemas.microsoft.com/office/drawing/2014/main" val="20003"/>
                    </a:ext>
                  </a:extLst>
                </a:gridCol>
                <a:gridCol w="704111">
                  <a:extLst>
                    <a:ext uri="{9D8B030D-6E8A-4147-A177-3AD203B41FA5}">
                      <a16:colId xmlns:a16="http://schemas.microsoft.com/office/drawing/2014/main" val="20004"/>
                    </a:ext>
                  </a:extLst>
                </a:gridCol>
              </a:tblGrid>
              <a:tr h="365760">
                <a:tc>
                  <a:txBody>
                    <a:bodyPr/>
                    <a:lstStyle/>
                    <a:p>
                      <a:pPr algn="l"/>
                      <a:r>
                        <a:rPr sz="2000" b="1" err="1">
                          <a:solidFill>
                            <a:srgbClr val="FFFFFF"/>
                          </a:solidFill>
                          <a:latin typeface="Calibri"/>
                        </a:rPr>
                        <a:t>S.No</a:t>
                      </a:r>
                    </a:p>
                  </a:txBody>
                  <a:tcPr marL="54864" marR="54864" marT="27432" marB="27432" anchor="ctr">
                    <a:solidFill>
                      <a:srgbClr val="595460"/>
                    </a:solidFill>
                  </a:tcPr>
                </a:tc>
                <a:tc>
                  <a:txBody>
                    <a:bodyPr/>
                    <a:lstStyle/>
                    <a:p>
                      <a:pPr algn="l"/>
                      <a:r>
                        <a:rPr sz="2000" b="1">
                          <a:solidFill>
                            <a:srgbClr val="FFFFFF"/>
                          </a:solidFill>
                          <a:latin typeface="Calibri"/>
                        </a:rPr>
                        <a:t>Paper Name</a:t>
                      </a:r>
                    </a:p>
                  </a:txBody>
                  <a:tcPr marL="54864" marR="54864" marT="27432" marB="27432" anchor="ctr">
                    <a:solidFill>
                      <a:srgbClr val="595460"/>
                    </a:solidFill>
                  </a:tcPr>
                </a:tc>
                <a:tc>
                  <a:txBody>
                    <a:bodyPr/>
                    <a:lstStyle/>
                    <a:p>
                      <a:pPr algn="l"/>
                      <a:r>
                        <a:rPr sz="2000" b="1">
                          <a:solidFill>
                            <a:srgbClr val="FFFFFF"/>
                          </a:solidFill>
                          <a:latin typeface="Calibri"/>
                        </a:rPr>
                        <a:t>Methodology</a:t>
                      </a:r>
                    </a:p>
                  </a:txBody>
                  <a:tcPr marL="54864" marR="54864" marT="27432" marB="27432" anchor="ctr">
                    <a:solidFill>
                      <a:srgbClr val="595460"/>
                    </a:solidFill>
                  </a:tcPr>
                </a:tc>
                <a:tc>
                  <a:txBody>
                    <a:bodyPr/>
                    <a:lstStyle/>
                    <a:p>
                      <a:pPr algn="l"/>
                      <a:r>
                        <a:rPr sz="2000" b="1">
                          <a:solidFill>
                            <a:srgbClr val="FFFFFF"/>
                          </a:solidFill>
                          <a:latin typeface="Calibri"/>
                        </a:rPr>
                        <a:t>Contributions</a:t>
                      </a:r>
                    </a:p>
                  </a:txBody>
                  <a:tcPr marL="54864" marR="54864" marT="27432" marB="27432" anchor="ctr">
                    <a:solidFill>
                      <a:srgbClr val="595460"/>
                    </a:solidFill>
                  </a:tcPr>
                </a:tc>
                <a:tc>
                  <a:txBody>
                    <a:bodyPr/>
                    <a:lstStyle/>
                    <a:p>
                      <a:pPr algn="l"/>
                      <a:r>
                        <a:rPr sz="2000" b="1">
                          <a:solidFill>
                            <a:srgbClr val="FFFFFF"/>
                          </a:solidFill>
                          <a:latin typeface="Calibri"/>
                        </a:rPr>
                        <a:t>Year</a:t>
                      </a:r>
                    </a:p>
                  </a:txBody>
                  <a:tcPr marL="54864" marR="54864" marT="27432" marB="27432" anchor="ctr">
                    <a:solidFill>
                      <a:srgbClr val="595460"/>
                    </a:solidFill>
                  </a:tcPr>
                </a:tc>
                <a:extLst>
                  <a:ext uri="{0D108BD9-81ED-4DB2-BD59-A6C34878D82A}">
                    <a16:rowId xmlns:a16="http://schemas.microsoft.com/office/drawing/2014/main" val="10000"/>
                  </a:ext>
                </a:extLst>
              </a:tr>
              <a:tr h="685800">
                <a:tc>
                  <a:txBody>
                    <a:bodyPr/>
                    <a:lstStyle/>
                    <a:p>
                      <a:pPr algn="l"/>
                      <a:r>
                        <a:rPr sz="1800" b="0">
                          <a:solidFill>
                            <a:schemeClr val="tx1"/>
                          </a:solidFill>
                          <a:latin typeface="Calibri"/>
                        </a:rPr>
                        <a:t>1 </a:t>
                      </a:r>
                    </a:p>
                  </a:txBody>
                  <a:tcPr marL="54864" marR="54864" marT="27432" marB="27432" anchor="ctr">
                    <a:solidFill>
                      <a:srgbClr val="FFFFFF"/>
                    </a:solidFill>
                  </a:tcPr>
                </a:tc>
                <a:tc>
                  <a:txBody>
                    <a:bodyPr/>
                    <a:lstStyle/>
                    <a:p>
                      <a:pPr algn="l"/>
                      <a:r>
                        <a:rPr sz="1800" b="0">
                          <a:solidFill>
                            <a:schemeClr val="tx1"/>
                          </a:solidFill>
                          <a:latin typeface="Calibri"/>
                        </a:rPr>
                        <a:t>Chat-RFB: a flow battery chat system leveraging knowledge graphs and LLMs</a:t>
                      </a:r>
                    </a:p>
                  </a:txBody>
                  <a:tcPr marL="54864" marR="54864" marT="27432" marB="27432" anchor="ctr">
                    <a:solidFill>
                      <a:srgbClr val="FFFFFF"/>
                    </a:solidFill>
                  </a:tcPr>
                </a:tc>
                <a:tc>
                  <a:txBody>
                    <a:bodyPr/>
                    <a:lstStyle/>
                    <a:p>
                      <a:pPr algn="l"/>
                      <a:r>
                        <a:rPr lang="en-US" sz="1800" b="0">
                          <a:solidFill>
                            <a:schemeClr val="tx1"/>
                          </a:solidFill>
                          <a:latin typeface="Calibri"/>
                        </a:rPr>
                        <a:t>Knowledge Graph (KG) Construction</a:t>
                      </a:r>
                    </a:p>
                  </a:txBody>
                  <a:tcPr marL="54864" marR="54864" marT="27432" marB="27432" anchor="ctr">
                    <a:solidFill>
                      <a:srgbClr val="FFFFFF"/>
                    </a:solidFill>
                  </a:tcPr>
                </a:tc>
                <a:tc>
                  <a:txBody>
                    <a:bodyPr/>
                    <a:lstStyle/>
                    <a:p>
                      <a:pPr algn="l"/>
                      <a:r>
                        <a:rPr sz="1800" b="0">
                          <a:solidFill>
                            <a:schemeClr val="tx1"/>
                          </a:solidFill>
                          <a:latin typeface="Calibri"/>
                        </a:rPr>
                        <a:t>Constructed 164k nodes &amp; 853k relationships from 5,353 articles; up to 94.9% domain accuracy</a:t>
                      </a:r>
                    </a:p>
                  </a:txBody>
                  <a:tcPr marL="54864" marR="54864" marT="27432" marB="27432" anchor="ctr">
                    <a:solidFill>
                      <a:srgbClr val="FFFFFF"/>
                    </a:solidFill>
                  </a:tcPr>
                </a:tc>
                <a:tc>
                  <a:txBody>
                    <a:bodyPr/>
                    <a:lstStyle/>
                    <a:p>
                      <a:pPr algn="l"/>
                      <a:r>
                        <a:rPr sz="1800" b="0">
                          <a:solidFill>
                            <a:schemeClr val="tx1"/>
                          </a:solidFill>
                          <a:latin typeface="Calibri"/>
                        </a:rPr>
                        <a:t>2026</a:t>
                      </a:r>
                    </a:p>
                  </a:txBody>
                  <a:tcPr marL="54864" marR="54864" marT="27432" marB="27432" anchor="ctr">
                    <a:solidFill>
                      <a:srgbClr val="FFFFFF"/>
                    </a:solidFill>
                  </a:tcPr>
                </a:tc>
                <a:extLst>
                  <a:ext uri="{0D108BD9-81ED-4DB2-BD59-A6C34878D82A}">
                    <a16:rowId xmlns:a16="http://schemas.microsoft.com/office/drawing/2014/main" val="10001"/>
                  </a:ext>
                </a:extLst>
              </a:tr>
              <a:tr h="685800">
                <a:tc>
                  <a:txBody>
                    <a:bodyPr/>
                    <a:lstStyle/>
                    <a:p>
                      <a:pPr algn="l"/>
                      <a:r>
                        <a:rPr sz="1800" b="0">
                          <a:solidFill>
                            <a:schemeClr val="tx1"/>
                          </a:solidFill>
                          <a:latin typeface="Calibri"/>
                        </a:rPr>
                        <a:t>2</a:t>
                      </a:r>
                    </a:p>
                  </a:txBody>
                  <a:tcPr marL="54864" marR="54864" marT="27432" marB="27432" anchor="ctr">
                    <a:solidFill>
                      <a:srgbClr val="F5F6F5"/>
                    </a:solidFill>
                  </a:tcPr>
                </a:tc>
                <a:tc>
                  <a:txBody>
                    <a:bodyPr/>
                    <a:lstStyle/>
                    <a:p>
                      <a:pPr algn="l"/>
                      <a:r>
                        <a:rPr sz="1800" b="0">
                          <a:solidFill>
                            <a:schemeClr val="tx1"/>
                          </a:solidFill>
                          <a:latin typeface="Calibri"/>
                        </a:rPr>
                        <a:t>G-RAG: Knowledge Expansion in Material Science</a:t>
                      </a:r>
                    </a:p>
                  </a:txBody>
                  <a:tcPr marL="54864" marR="54864" marT="27432" marB="27432" anchor="ctr">
                    <a:solidFill>
                      <a:srgbClr val="F5F6F5"/>
                    </a:solidFill>
                  </a:tcPr>
                </a:tc>
                <a:tc>
                  <a:txBody>
                    <a:bodyPr/>
                    <a:lstStyle/>
                    <a:p>
                      <a:pPr algn="l"/>
                      <a:r>
                        <a:rPr sz="1800" b="0">
                          <a:solidFill>
                            <a:schemeClr val="tx1"/>
                          </a:solidFill>
                          <a:latin typeface="Calibri"/>
                        </a:rPr>
                        <a:t>Graph RAG</a:t>
                      </a:r>
                    </a:p>
                  </a:txBody>
                  <a:tcPr marL="54864" marR="54864" marT="27432" marB="27432" anchor="ctr">
                    <a:solidFill>
                      <a:srgbClr val="F5F6F5"/>
                    </a:solidFill>
                  </a:tcPr>
                </a:tc>
                <a:tc>
                  <a:txBody>
                    <a:bodyPr/>
                    <a:lstStyle/>
                    <a:p>
                      <a:pPr algn="l"/>
                      <a:r>
                        <a:rPr sz="1800" b="0">
                          <a:solidFill>
                            <a:schemeClr val="tx1"/>
                          </a:solidFill>
                          <a:latin typeface="Calibri"/>
                        </a:rPr>
                        <a:t>Extracted material entities (</a:t>
                      </a:r>
                      <a:r>
                        <a:rPr sz="1800" b="0" err="1">
                          <a:solidFill>
                            <a:schemeClr val="tx1"/>
                          </a:solidFill>
                          <a:latin typeface="Calibri"/>
                        </a:rPr>
                        <a:t>MatIDs</a:t>
                      </a:r>
                      <a:r>
                        <a:rPr sz="1800" b="0">
                          <a:solidFill>
                            <a:schemeClr val="tx1"/>
                          </a:solidFill>
                          <a:latin typeface="Calibri"/>
                        </a:rPr>
                        <a:t>); </a:t>
                      </a:r>
                      <a:r>
                        <a:rPr sz="1800" b="0" err="1">
                          <a:solidFill>
                            <a:schemeClr val="tx1"/>
                          </a:solidFill>
                          <a:latin typeface="Calibri"/>
                        </a:rPr>
                        <a:t>GraphRAG</a:t>
                      </a:r>
                      <a:r>
                        <a:rPr sz="1800" b="0">
                          <a:solidFill>
                            <a:schemeClr val="tx1"/>
                          </a:solidFill>
                          <a:latin typeface="Calibri"/>
                        </a:rPr>
                        <a:t> outperforms standard vector RAG</a:t>
                      </a:r>
                    </a:p>
                  </a:txBody>
                  <a:tcPr marL="54864" marR="54864" marT="27432" marB="27432" anchor="ctr">
                    <a:solidFill>
                      <a:srgbClr val="F5F6F5"/>
                    </a:solidFill>
                  </a:tcPr>
                </a:tc>
                <a:tc>
                  <a:txBody>
                    <a:bodyPr/>
                    <a:lstStyle/>
                    <a:p>
                      <a:pPr algn="l"/>
                      <a:r>
                        <a:rPr sz="1800" b="0">
                          <a:solidFill>
                            <a:schemeClr val="tx1"/>
                          </a:solidFill>
                          <a:latin typeface="Calibri"/>
                        </a:rPr>
                        <a:t>2024</a:t>
                      </a:r>
                    </a:p>
                  </a:txBody>
                  <a:tcPr marL="54864" marR="54864" marT="27432" marB="27432" anchor="ctr">
                    <a:solidFill>
                      <a:srgbClr val="F5F6F5"/>
                    </a:solidFill>
                  </a:tcPr>
                </a:tc>
                <a:extLst>
                  <a:ext uri="{0D108BD9-81ED-4DB2-BD59-A6C34878D82A}">
                    <a16:rowId xmlns:a16="http://schemas.microsoft.com/office/drawing/2014/main" val="10002"/>
                  </a:ext>
                </a:extLst>
              </a:tr>
              <a:tr h="685800">
                <a:tc>
                  <a:txBody>
                    <a:bodyPr/>
                    <a:lstStyle/>
                    <a:p>
                      <a:pPr algn="l"/>
                      <a:r>
                        <a:rPr sz="1800" b="0">
                          <a:solidFill>
                            <a:schemeClr val="tx1"/>
                          </a:solidFill>
                          <a:latin typeface="Calibri"/>
                        </a:rPr>
                        <a:t>3</a:t>
                      </a:r>
                    </a:p>
                  </a:txBody>
                  <a:tcPr marL="54864" marR="54864" marT="27432" marB="27432" anchor="ctr">
                    <a:solidFill>
                      <a:srgbClr val="FFFFFF"/>
                    </a:solidFill>
                  </a:tcPr>
                </a:tc>
                <a:tc>
                  <a:txBody>
                    <a:bodyPr/>
                    <a:lstStyle/>
                    <a:p>
                      <a:pPr algn="l"/>
                      <a:r>
                        <a:rPr sz="1800" b="0">
                          <a:solidFill>
                            <a:schemeClr val="tx1"/>
                          </a:solidFill>
                          <a:latin typeface="Calibri"/>
                        </a:rPr>
                        <a:t>Advancing battery failure diagnosis by knowledge-augmented LLMs</a:t>
                      </a:r>
                    </a:p>
                  </a:txBody>
                  <a:tcPr marL="54864" marR="54864" marT="27432" marB="27432" anchor="ctr">
                    <a:solidFill>
                      <a:srgbClr val="FFFFFF"/>
                    </a:solidFill>
                  </a:tcPr>
                </a:tc>
                <a:tc>
                  <a:txBody>
                    <a:bodyPr/>
                    <a:lstStyle/>
                    <a:p>
                      <a:pPr lvl="0" algn="l">
                        <a:buNone/>
                      </a:pPr>
                      <a:r>
                        <a:rPr lang="en-US" sz="1800" b="0">
                          <a:solidFill>
                            <a:schemeClr val="tx1"/>
                          </a:solidFill>
                          <a:latin typeface="Calibri"/>
                        </a:rPr>
                        <a:t>Knowledge Graph + LLM</a:t>
                      </a:r>
                    </a:p>
                  </a:txBody>
                  <a:tcPr marL="54864" marR="54864" marT="27432" marB="27432" anchor="ctr">
                    <a:solidFill>
                      <a:srgbClr val="FFFFFF"/>
                    </a:solidFill>
                  </a:tcPr>
                </a:tc>
                <a:tc>
                  <a:txBody>
                    <a:bodyPr/>
                    <a:lstStyle/>
                    <a:p>
                      <a:pPr algn="l"/>
                      <a:r>
                        <a:rPr sz="1800" b="0">
                          <a:solidFill>
                            <a:schemeClr val="tx1"/>
                          </a:solidFill>
                          <a:latin typeface="Calibri"/>
                        </a:rPr>
                        <a:t>Case-level battery failure KG; feature-aware retrieval enhances diagnostic reasoning</a:t>
                      </a:r>
                    </a:p>
                  </a:txBody>
                  <a:tcPr marL="54864" marR="54864" marT="27432" marB="27432" anchor="ctr">
                    <a:solidFill>
                      <a:srgbClr val="FFFFFF"/>
                    </a:solidFill>
                  </a:tcPr>
                </a:tc>
                <a:tc>
                  <a:txBody>
                    <a:bodyPr/>
                    <a:lstStyle/>
                    <a:p>
                      <a:pPr algn="l"/>
                      <a:r>
                        <a:rPr sz="1800" b="0">
                          <a:solidFill>
                            <a:schemeClr val="tx1"/>
                          </a:solidFill>
                          <a:latin typeface="Calibri"/>
                        </a:rPr>
                        <a:t>2026</a:t>
                      </a:r>
                    </a:p>
                  </a:txBody>
                  <a:tcPr marL="54864" marR="54864" marT="27432" marB="27432" anchor="ctr">
                    <a:solidFill>
                      <a:srgbClr val="FFFFFF"/>
                    </a:solidFill>
                  </a:tcPr>
                </a:tc>
                <a:extLst>
                  <a:ext uri="{0D108BD9-81ED-4DB2-BD59-A6C34878D82A}">
                    <a16:rowId xmlns:a16="http://schemas.microsoft.com/office/drawing/2014/main" val="10003"/>
                  </a:ext>
                </a:extLst>
              </a:tr>
              <a:tr h="685800">
                <a:tc>
                  <a:txBody>
                    <a:bodyPr/>
                    <a:lstStyle/>
                    <a:p>
                      <a:pPr algn="l"/>
                      <a:r>
                        <a:rPr sz="1800" b="0">
                          <a:solidFill>
                            <a:schemeClr val="tx1"/>
                          </a:solidFill>
                          <a:latin typeface="Calibri"/>
                        </a:rPr>
                        <a:t>4</a:t>
                      </a:r>
                    </a:p>
                  </a:txBody>
                  <a:tcPr marL="54864" marR="54864" marT="27432" marB="27432" anchor="ctr">
                    <a:solidFill>
                      <a:srgbClr val="F5F6F5"/>
                    </a:solidFill>
                  </a:tcPr>
                </a:tc>
                <a:tc>
                  <a:txBody>
                    <a:bodyPr/>
                    <a:lstStyle/>
                    <a:p>
                      <a:pPr algn="l"/>
                      <a:r>
                        <a:rPr sz="1800" b="0">
                          <a:solidFill>
                            <a:schemeClr val="tx1"/>
                          </a:solidFill>
                          <a:latin typeface="Calibri"/>
                        </a:rPr>
                        <a:t>LISA: A Lithium-Ion Solid-State Assistant using LLMs</a:t>
                      </a:r>
                    </a:p>
                  </a:txBody>
                  <a:tcPr marL="54864" marR="54864" marT="27432" marB="27432" anchor="ctr">
                    <a:solidFill>
                      <a:srgbClr val="F5F6F5"/>
                    </a:solidFill>
                  </a:tcPr>
                </a:tc>
                <a:tc>
                  <a:txBody>
                    <a:bodyPr/>
                    <a:lstStyle/>
                    <a:p>
                      <a:pPr algn="l"/>
                      <a:r>
                        <a:rPr lang="en-US" sz="1800" b="0">
                          <a:solidFill>
                            <a:schemeClr val="tx1"/>
                          </a:solidFill>
                          <a:latin typeface="Calibri"/>
                        </a:rPr>
                        <a:t>Documet RAG + </a:t>
                      </a:r>
                    </a:p>
                  </a:txBody>
                  <a:tcPr marL="54864" marR="54864" marT="27432" marB="27432" anchor="ctr">
                    <a:solidFill>
                      <a:srgbClr val="F5F6F5"/>
                    </a:solidFill>
                  </a:tcPr>
                </a:tc>
                <a:tc>
                  <a:txBody>
                    <a:bodyPr/>
                    <a:lstStyle/>
                    <a:p>
                      <a:pPr algn="l"/>
                      <a:r>
                        <a:rPr sz="1800" b="0">
                          <a:solidFill>
                            <a:schemeClr val="tx1"/>
                          </a:solidFill>
                          <a:latin typeface="Calibri"/>
                        </a:rPr>
                        <a:t>Domain assistant for solid-state batteries; defragments knowledge, aids collaboration</a:t>
                      </a:r>
                    </a:p>
                  </a:txBody>
                  <a:tcPr marL="54864" marR="54864" marT="27432" marB="27432" anchor="ctr">
                    <a:solidFill>
                      <a:srgbClr val="F5F6F5"/>
                    </a:solidFill>
                  </a:tcPr>
                </a:tc>
                <a:tc>
                  <a:txBody>
                    <a:bodyPr/>
                    <a:lstStyle/>
                    <a:p>
                      <a:pPr algn="l"/>
                      <a:r>
                        <a:rPr sz="1800" b="0">
                          <a:solidFill>
                            <a:schemeClr val="tx1"/>
                          </a:solidFill>
                          <a:latin typeface="Calibri"/>
                        </a:rPr>
                        <a:t>2025</a:t>
                      </a:r>
                    </a:p>
                  </a:txBody>
                  <a:tcPr marL="54864" marR="54864" marT="27432" marB="27432" anchor="ctr">
                    <a:solidFill>
                      <a:srgbClr val="F5F6F5"/>
                    </a:solidFill>
                  </a:tcPr>
                </a:tc>
                <a:extLst>
                  <a:ext uri="{0D108BD9-81ED-4DB2-BD59-A6C34878D82A}">
                    <a16:rowId xmlns:a16="http://schemas.microsoft.com/office/drawing/2014/main" val="10004"/>
                  </a:ext>
                </a:extLst>
              </a:tr>
              <a:tr h="685800">
                <a:tc>
                  <a:txBody>
                    <a:bodyPr/>
                    <a:lstStyle/>
                    <a:p>
                      <a:pPr algn="l"/>
                      <a:r>
                        <a:rPr sz="1800" b="0">
                          <a:solidFill>
                            <a:schemeClr val="tx1"/>
                          </a:solidFill>
                          <a:latin typeface="Calibri"/>
                        </a:rPr>
                        <a:t>5</a:t>
                      </a:r>
                    </a:p>
                  </a:txBody>
                  <a:tcPr marL="54864" marR="54864" marT="27432" marB="27432" anchor="ctr">
                    <a:solidFill>
                      <a:srgbClr val="FFFFFF"/>
                    </a:solidFill>
                  </a:tcPr>
                </a:tc>
                <a:tc>
                  <a:txBody>
                    <a:bodyPr/>
                    <a:lstStyle/>
                    <a:p>
                      <a:pPr algn="l"/>
                      <a:r>
                        <a:rPr sz="1800" b="0">
                          <a:solidFill>
                            <a:schemeClr val="tx1"/>
                          </a:solidFill>
                          <a:latin typeface="Calibri"/>
                        </a:rPr>
                        <a:t>Intelligent, Personalized Scientific Assistant via LLMs for Solid-State Battery Research</a:t>
                      </a:r>
                    </a:p>
                  </a:txBody>
                  <a:tcPr marL="54864" marR="54864" marT="27432" marB="27432" anchor="ctr">
                    <a:solidFill>
                      <a:srgbClr val="FFFFFF"/>
                    </a:solidFill>
                  </a:tcPr>
                </a:tc>
                <a:tc>
                  <a:txBody>
                    <a:bodyPr/>
                    <a:lstStyle/>
                    <a:p>
                      <a:pPr algn="l"/>
                      <a:r>
                        <a:rPr sz="1800" b="0">
                          <a:solidFill>
                            <a:schemeClr val="tx1"/>
                          </a:solidFill>
                          <a:latin typeface="Calibri"/>
                        </a:rPr>
                        <a:t>RAG + Multi-agent Collaboration (</a:t>
                      </a:r>
                      <a:r>
                        <a:rPr sz="1800" b="0" err="1">
                          <a:solidFill>
                            <a:schemeClr val="tx1"/>
                          </a:solidFill>
                          <a:latin typeface="Calibri"/>
                        </a:rPr>
                        <a:t>ChatSSB</a:t>
                      </a:r>
                      <a:r>
                        <a:rPr sz="1800" b="0">
                          <a:solidFill>
                            <a:schemeClr val="tx1"/>
                          </a:solidFill>
                          <a:latin typeface="Calibri"/>
                        </a:rPr>
                        <a:t>)</a:t>
                      </a:r>
                    </a:p>
                  </a:txBody>
                  <a:tcPr marL="54864" marR="54864" marT="27432" marB="27432" anchor="ctr">
                    <a:solidFill>
                      <a:srgbClr val="FFFFFF"/>
                    </a:solidFill>
                  </a:tcPr>
                </a:tc>
                <a:tc>
                  <a:txBody>
                    <a:bodyPr/>
                    <a:lstStyle/>
                    <a:p>
                      <a:pPr algn="l"/>
                      <a:r>
                        <a:rPr sz="1800" b="0" err="1">
                          <a:solidFill>
                            <a:schemeClr val="tx1"/>
                          </a:solidFill>
                          <a:latin typeface="Calibri"/>
                        </a:rPr>
                        <a:t>ChatSSB</a:t>
                      </a:r>
                      <a:r>
                        <a:rPr sz="1800" b="0">
                          <a:solidFill>
                            <a:schemeClr val="tx1"/>
                          </a:solidFill>
                          <a:latin typeface="Calibri"/>
                        </a:rPr>
                        <a:t> with dynamic feedback &amp; agent collaboration for data collection/visualization</a:t>
                      </a:r>
                    </a:p>
                  </a:txBody>
                  <a:tcPr marL="54864" marR="54864" marT="27432" marB="27432" anchor="ctr">
                    <a:solidFill>
                      <a:srgbClr val="FFFFFF"/>
                    </a:solidFill>
                  </a:tcPr>
                </a:tc>
                <a:tc>
                  <a:txBody>
                    <a:bodyPr/>
                    <a:lstStyle/>
                    <a:p>
                      <a:pPr algn="l"/>
                      <a:r>
                        <a:rPr sz="1800" b="0">
                          <a:solidFill>
                            <a:schemeClr val="tx1"/>
                          </a:solidFill>
                          <a:latin typeface="Calibri"/>
                        </a:rPr>
                        <a:t>2025</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73850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4CCFE4-A9AC-65D3-CF7B-D4EB8E69843C}"/>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sz="3000" b="1" i="0">
                <a:solidFill>
                  <a:srgbClr val="FFFFFF"/>
                </a:solidFill>
                <a:latin typeface="Calibri"/>
              </a:rPr>
              <a:t>3. Literature Review</a:t>
            </a:r>
          </a:p>
        </p:txBody>
      </p:sp>
      <p:graphicFrame>
        <p:nvGraphicFramePr>
          <p:cNvPr id="3" name="Table 2"/>
          <p:cNvGraphicFramePr>
            <a:graphicFrameLocks noGrp="1"/>
          </p:cNvGraphicFramePr>
          <p:nvPr>
            <p:extLst>
              <p:ext uri="{D42A27DB-BD31-4B8C-83A1-F6EECF244321}">
                <p14:modId xmlns:p14="http://schemas.microsoft.com/office/powerpoint/2010/main" val="1903880560"/>
              </p:ext>
            </p:extLst>
          </p:nvPr>
        </p:nvGraphicFramePr>
        <p:xfrm>
          <a:off x="20320" y="1366520"/>
          <a:ext cx="12175155" cy="4938847"/>
        </p:xfrm>
        <a:graphic>
          <a:graphicData uri="http://schemas.openxmlformats.org/drawingml/2006/table">
            <a:tbl>
              <a:tblPr firstRow="1" bandRow="1">
                <a:tableStyleId>{5C22544A-7EE6-4342-B048-85BDC9FD1C3A}</a:tableStyleId>
              </a:tblPr>
              <a:tblGrid>
                <a:gridCol w="752792">
                  <a:extLst>
                    <a:ext uri="{9D8B030D-6E8A-4147-A177-3AD203B41FA5}">
                      <a16:colId xmlns:a16="http://schemas.microsoft.com/office/drawing/2014/main" val="20000"/>
                    </a:ext>
                  </a:extLst>
                </a:gridCol>
                <a:gridCol w="4065077">
                  <a:extLst>
                    <a:ext uri="{9D8B030D-6E8A-4147-A177-3AD203B41FA5}">
                      <a16:colId xmlns:a16="http://schemas.microsoft.com/office/drawing/2014/main" val="20001"/>
                    </a:ext>
                  </a:extLst>
                </a:gridCol>
                <a:gridCol w="2559493">
                  <a:extLst>
                    <a:ext uri="{9D8B030D-6E8A-4147-A177-3AD203B41FA5}">
                      <a16:colId xmlns:a16="http://schemas.microsoft.com/office/drawing/2014/main" val="20002"/>
                    </a:ext>
                  </a:extLst>
                </a:gridCol>
                <a:gridCol w="4095188">
                  <a:extLst>
                    <a:ext uri="{9D8B030D-6E8A-4147-A177-3AD203B41FA5}">
                      <a16:colId xmlns:a16="http://schemas.microsoft.com/office/drawing/2014/main" val="20003"/>
                    </a:ext>
                  </a:extLst>
                </a:gridCol>
                <a:gridCol w="702605">
                  <a:extLst>
                    <a:ext uri="{9D8B030D-6E8A-4147-A177-3AD203B41FA5}">
                      <a16:colId xmlns:a16="http://schemas.microsoft.com/office/drawing/2014/main" val="20004"/>
                    </a:ext>
                  </a:extLst>
                </a:gridCol>
              </a:tblGrid>
              <a:tr h="384151">
                <a:tc>
                  <a:txBody>
                    <a:bodyPr/>
                    <a:lstStyle/>
                    <a:p>
                      <a:pPr algn="l"/>
                      <a:r>
                        <a:rPr sz="2000" b="1" err="1">
                          <a:solidFill>
                            <a:srgbClr val="FFFFFF"/>
                          </a:solidFill>
                          <a:latin typeface="Calibri"/>
                        </a:rPr>
                        <a:t>S.No</a:t>
                      </a:r>
                    </a:p>
                  </a:txBody>
                  <a:tcPr marL="54864" marR="54864" marT="27432" marB="27432" anchor="ctr">
                    <a:solidFill>
                      <a:srgbClr val="595460"/>
                    </a:solidFill>
                  </a:tcPr>
                </a:tc>
                <a:tc>
                  <a:txBody>
                    <a:bodyPr/>
                    <a:lstStyle/>
                    <a:p>
                      <a:pPr algn="l"/>
                      <a:r>
                        <a:rPr sz="2000" b="1">
                          <a:solidFill>
                            <a:srgbClr val="FFFFFF"/>
                          </a:solidFill>
                          <a:latin typeface="Calibri"/>
                        </a:rPr>
                        <a:t>Paper Name</a:t>
                      </a:r>
                    </a:p>
                  </a:txBody>
                  <a:tcPr marL="54864" marR="54864" marT="27432" marB="27432" anchor="ctr">
                    <a:solidFill>
                      <a:srgbClr val="595460"/>
                    </a:solidFill>
                  </a:tcPr>
                </a:tc>
                <a:tc>
                  <a:txBody>
                    <a:bodyPr/>
                    <a:lstStyle/>
                    <a:p>
                      <a:pPr algn="l"/>
                      <a:r>
                        <a:rPr sz="2000" b="1">
                          <a:solidFill>
                            <a:srgbClr val="FFFFFF"/>
                          </a:solidFill>
                          <a:latin typeface="Calibri"/>
                        </a:rPr>
                        <a:t>Methodology</a:t>
                      </a:r>
                    </a:p>
                  </a:txBody>
                  <a:tcPr marL="54864" marR="54864" marT="27432" marB="27432" anchor="ctr">
                    <a:solidFill>
                      <a:srgbClr val="595460"/>
                    </a:solidFill>
                  </a:tcPr>
                </a:tc>
                <a:tc>
                  <a:txBody>
                    <a:bodyPr/>
                    <a:lstStyle/>
                    <a:p>
                      <a:pPr algn="l"/>
                      <a:r>
                        <a:rPr sz="2000" b="1">
                          <a:solidFill>
                            <a:srgbClr val="FFFFFF"/>
                          </a:solidFill>
                          <a:latin typeface="Calibri"/>
                        </a:rPr>
                        <a:t>Contributions</a:t>
                      </a:r>
                    </a:p>
                  </a:txBody>
                  <a:tcPr marL="54864" marR="54864" marT="27432" marB="27432" anchor="ctr">
                    <a:solidFill>
                      <a:srgbClr val="595460"/>
                    </a:solidFill>
                  </a:tcPr>
                </a:tc>
                <a:tc>
                  <a:txBody>
                    <a:bodyPr/>
                    <a:lstStyle/>
                    <a:p>
                      <a:pPr algn="l"/>
                      <a:r>
                        <a:rPr sz="2000" b="1">
                          <a:solidFill>
                            <a:srgbClr val="FFFFFF"/>
                          </a:solidFill>
                          <a:latin typeface="Calibri"/>
                        </a:rPr>
                        <a:t>Year</a:t>
                      </a:r>
                    </a:p>
                  </a:txBody>
                  <a:tcPr marL="54864" marR="54864" marT="27432" marB="27432" anchor="ctr">
                    <a:solidFill>
                      <a:srgbClr val="595460"/>
                    </a:solidFill>
                  </a:tcPr>
                </a:tc>
                <a:extLst>
                  <a:ext uri="{0D108BD9-81ED-4DB2-BD59-A6C34878D82A}">
                    <a16:rowId xmlns:a16="http://schemas.microsoft.com/office/drawing/2014/main" val="10000"/>
                  </a:ext>
                </a:extLst>
              </a:tr>
              <a:tr h="919218">
                <a:tc>
                  <a:txBody>
                    <a:bodyPr/>
                    <a:lstStyle/>
                    <a:p>
                      <a:pPr algn="l"/>
                      <a:r>
                        <a:rPr sz="1800" b="0">
                          <a:solidFill>
                            <a:schemeClr val="tx1"/>
                          </a:solidFill>
                          <a:latin typeface="Calibri"/>
                        </a:rPr>
                        <a:t>6</a:t>
                      </a:r>
                    </a:p>
                  </a:txBody>
                  <a:tcPr marL="54864" marR="54864" marT="27432" marB="27432" anchor="ctr">
                    <a:solidFill>
                      <a:srgbClr val="FFFFFF"/>
                    </a:solidFill>
                  </a:tcPr>
                </a:tc>
                <a:tc>
                  <a:txBody>
                    <a:bodyPr/>
                    <a:lstStyle/>
                    <a:p>
                      <a:pPr algn="l"/>
                      <a:r>
                        <a:rPr sz="1800" b="0">
                          <a:solidFill>
                            <a:schemeClr val="tx1"/>
                          </a:solidFill>
                          <a:latin typeface="Calibri"/>
                        </a:rPr>
                        <a:t>Automating Knowledge Discovery in Material Science with RAG Framework</a:t>
                      </a:r>
                    </a:p>
                  </a:txBody>
                  <a:tcPr marL="54864" marR="54864" marT="27432" marB="27432" anchor="ctr">
                    <a:solidFill>
                      <a:srgbClr val="FFFFFF"/>
                    </a:solidFill>
                  </a:tcPr>
                </a:tc>
                <a:tc>
                  <a:txBody>
                    <a:bodyPr/>
                    <a:lstStyle/>
                    <a:p>
                      <a:pPr algn="l"/>
                      <a:r>
                        <a:rPr sz="1800" b="0" err="1">
                          <a:solidFill>
                            <a:schemeClr val="tx1"/>
                          </a:solidFill>
                          <a:latin typeface="Calibri"/>
                        </a:rPr>
                        <a:t>MatSciBERT</a:t>
                      </a:r>
                      <a:r>
                        <a:rPr sz="1800" b="0">
                          <a:solidFill>
                            <a:schemeClr val="tx1"/>
                          </a:solidFill>
                          <a:latin typeface="Calibri"/>
                        </a:rPr>
                        <a:t> Embeddings + RAG</a:t>
                      </a:r>
                    </a:p>
                  </a:txBody>
                  <a:tcPr marL="54864" marR="54864" marT="27432" marB="27432" anchor="ctr">
                    <a:solidFill>
                      <a:srgbClr val="FFFFFF"/>
                    </a:solidFill>
                  </a:tcPr>
                </a:tc>
                <a:tc>
                  <a:txBody>
                    <a:bodyPr/>
                    <a:lstStyle/>
                    <a:p>
                      <a:pPr algn="l"/>
                      <a:r>
                        <a:rPr sz="1800" b="0">
                          <a:solidFill>
                            <a:schemeClr val="tx1"/>
                          </a:solidFill>
                          <a:latin typeface="Calibri"/>
                        </a:rPr>
                        <a:t>Curated domain-specific dataset from PDFs; high accuracy parsing heterogeneous data</a:t>
                      </a:r>
                    </a:p>
                  </a:txBody>
                  <a:tcPr marL="54864" marR="54864" marT="27432" marB="27432" anchor="ctr">
                    <a:solidFill>
                      <a:srgbClr val="FFFFFF"/>
                    </a:solidFill>
                  </a:tcPr>
                </a:tc>
                <a:tc>
                  <a:txBody>
                    <a:bodyPr/>
                    <a:lstStyle/>
                    <a:p>
                      <a:pPr algn="l"/>
                      <a:r>
                        <a:rPr sz="1800" b="0">
                          <a:solidFill>
                            <a:schemeClr val="tx1"/>
                          </a:solidFill>
                          <a:latin typeface="Calibri"/>
                        </a:rPr>
                        <a:t>2025</a:t>
                      </a:r>
                    </a:p>
                  </a:txBody>
                  <a:tcPr marL="54864" marR="54864" marT="27432" marB="27432" anchor="ctr">
                    <a:solidFill>
                      <a:srgbClr val="FFFFFF"/>
                    </a:solidFill>
                  </a:tcPr>
                </a:tc>
                <a:extLst>
                  <a:ext uri="{0D108BD9-81ED-4DB2-BD59-A6C34878D82A}">
                    <a16:rowId xmlns:a16="http://schemas.microsoft.com/office/drawing/2014/main" val="10001"/>
                  </a:ext>
                </a:extLst>
              </a:tr>
              <a:tr h="919218">
                <a:tc>
                  <a:txBody>
                    <a:bodyPr/>
                    <a:lstStyle/>
                    <a:p>
                      <a:pPr algn="l"/>
                      <a:r>
                        <a:rPr sz="1800" b="0">
                          <a:solidFill>
                            <a:schemeClr val="tx1"/>
                          </a:solidFill>
                          <a:latin typeface="Calibri"/>
                        </a:rPr>
                        <a:t>7</a:t>
                      </a:r>
                    </a:p>
                  </a:txBody>
                  <a:tcPr marL="54864" marR="54864" marT="27432" marB="27432" anchor="ctr">
                    <a:solidFill>
                      <a:srgbClr val="F5F6F5"/>
                    </a:solidFill>
                  </a:tcPr>
                </a:tc>
                <a:tc>
                  <a:txBody>
                    <a:bodyPr/>
                    <a:lstStyle/>
                    <a:p>
                      <a:pPr algn="l"/>
                      <a:r>
                        <a:rPr sz="1800" b="0">
                          <a:solidFill>
                            <a:schemeClr val="tx1"/>
                          </a:solidFill>
                          <a:latin typeface="Calibri"/>
                        </a:rPr>
                        <a:t>Graph RAG in the Wild: Insights and Best Practices</a:t>
                      </a:r>
                    </a:p>
                  </a:txBody>
                  <a:tcPr marL="54864" marR="54864" marT="27432" marB="27432" anchor="ctr">
                    <a:solidFill>
                      <a:srgbClr val="F5F6F5"/>
                    </a:solidFill>
                  </a:tcPr>
                </a:tc>
                <a:tc>
                  <a:txBody>
                    <a:bodyPr/>
                    <a:lstStyle/>
                    <a:p>
                      <a:pPr algn="l"/>
                      <a:r>
                        <a:rPr sz="1800" b="0">
                          <a:solidFill>
                            <a:schemeClr val="tx1"/>
                          </a:solidFill>
                          <a:latin typeface="Calibri"/>
                        </a:rPr>
                        <a:t>Graph RAG application</a:t>
                      </a:r>
                    </a:p>
                  </a:txBody>
                  <a:tcPr marL="54864" marR="54864" marT="27432" marB="27432" anchor="ctr">
                    <a:solidFill>
                      <a:srgbClr val="F5F6F5"/>
                    </a:solidFill>
                  </a:tcPr>
                </a:tc>
                <a:tc>
                  <a:txBody>
                    <a:bodyPr/>
                    <a:lstStyle/>
                    <a:p>
                      <a:pPr algn="l"/>
                      <a:r>
                        <a:rPr sz="1800" b="0">
                          <a:solidFill>
                            <a:schemeClr val="tx1"/>
                          </a:solidFill>
                          <a:latin typeface="Calibri"/>
                        </a:rPr>
                        <a:t>Highlighted limitations of pure vector-RAG; formalized best practices for graph-structured querying</a:t>
                      </a:r>
                    </a:p>
                  </a:txBody>
                  <a:tcPr marL="54864" marR="54864" marT="27432" marB="27432" anchor="ctr">
                    <a:solidFill>
                      <a:srgbClr val="F5F6F5"/>
                    </a:solidFill>
                  </a:tcPr>
                </a:tc>
                <a:tc>
                  <a:txBody>
                    <a:bodyPr/>
                    <a:lstStyle/>
                    <a:p>
                      <a:pPr algn="l"/>
                      <a:r>
                        <a:rPr sz="1800" b="0">
                          <a:solidFill>
                            <a:schemeClr val="tx1"/>
                          </a:solidFill>
                          <a:latin typeface="Calibri"/>
                        </a:rPr>
                        <a:t>2026</a:t>
                      </a:r>
                    </a:p>
                  </a:txBody>
                  <a:tcPr marL="54864" marR="54864" marT="27432" marB="27432" anchor="ctr">
                    <a:solidFill>
                      <a:srgbClr val="F5F6F5"/>
                    </a:solidFill>
                  </a:tcPr>
                </a:tc>
                <a:extLst>
                  <a:ext uri="{0D108BD9-81ED-4DB2-BD59-A6C34878D82A}">
                    <a16:rowId xmlns:a16="http://schemas.microsoft.com/office/drawing/2014/main" val="10002"/>
                  </a:ext>
                </a:extLst>
              </a:tr>
              <a:tr h="727142">
                <a:tc>
                  <a:txBody>
                    <a:bodyPr/>
                    <a:lstStyle/>
                    <a:p>
                      <a:pPr algn="l"/>
                      <a:r>
                        <a:rPr sz="1800" b="0">
                          <a:solidFill>
                            <a:schemeClr val="tx1"/>
                          </a:solidFill>
                          <a:latin typeface="Calibri"/>
                        </a:rPr>
                        <a:t>8</a:t>
                      </a:r>
                    </a:p>
                  </a:txBody>
                  <a:tcPr marL="54864" marR="54864" marT="27432" marB="27432" anchor="ctr">
                    <a:solidFill>
                      <a:srgbClr val="FFFFFF"/>
                    </a:solidFill>
                  </a:tcPr>
                </a:tc>
                <a:tc>
                  <a:txBody>
                    <a:bodyPr/>
                    <a:lstStyle/>
                    <a:p>
                      <a:pPr algn="l"/>
                      <a:r>
                        <a:rPr sz="1800" b="0">
                          <a:solidFill>
                            <a:schemeClr val="tx1"/>
                          </a:solidFill>
                          <a:latin typeface="Calibri"/>
                        </a:rPr>
                        <a:t>RAG4GFM: Bridging Knowledge Gaps in Graph Foundation Models</a:t>
                      </a:r>
                    </a:p>
                  </a:txBody>
                  <a:tcPr marL="54864" marR="54864" marT="27432" marB="27432" anchor="ctr">
                    <a:solidFill>
                      <a:srgbClr val="FFFFFF"/>
                    </a:solidFill>
                  </a:tcPr>
                </a:tc>
                <a:tc>
                  <a:txBody>
                    <a:bodyPr/>
                    <a:lstStyle/>
                    <a:p>
                      <a:pPr algn="l"/>
                      <a:r>
                        <a:rPr sz="1800" b="0">
                          <a:solidFill>
                            <a:schemeClr val="tx1"/>
                          </a:solidFill>
                          <a:latin typeface="Calibri"/>
                        </a:rPr>
                        <a:t>Graph Retrieval Augmented Generation</a:t>
                      </a:r>
                    </a:p>
                  </a:txBody>
                  <a:tcPr marL="54864" marR="54864" marT="27432" marB="27432" anchor="ctr">
                    <a:solidFill>
                      <a:srgbClr val="FFFFFF"/>
                    </a:solidFill>
                  </a:tcPr>
                </a:tc>
                <a:tc>
                  <a:txBody>
                    <a:bodyPr/>
                    <a:lstStyle/>
                    <a:p>
                      <a:pPr algn="l"/>
                      <a:r>
                        <a:rPr sz="1800" b="0">
                          <a:solidFill>
                            <a:schemeClr val="tx1"/>
                          </a:solidFill>
                          <a:latin typeface="Calibri"/>
                        </a:rPr>
                        <a:t>Hierarchical graph indexing and task-aware retrieval fusing graph &amp; query features</a:t>
                      </a:r>
                    </a:p>
                  </a:txBody>
                  <a:tcPr marL="54864" marR="54864" marT="27432" marB="27432" anchor="ctr">
                    <a:solidFill>
                      <a:srgbClr val="FFFFFF"/>
                    </a:solidFill>
                  </a:tcPr>
                </a:tc>
                <a:tc>
                  <a:txBody>
                    <a:bodyPr/>
                    <a:lstStyle/>
                    <a:p>
                      <a:pPr algn="l"/>
                      <a:r>
                        <a:rPr sz="1800" b="0">
                          <a:solidFill>
                            <a:schemeClr val="tx1"/>
                          </a:solidFill>
                          <a:latin typeface="Calibri"/>
                        </a:rPr>
                        <a:t>2026</a:t>
                      </a:r>
                    </a:p>
                  </a:txBody>
                  <a:tcPr marL="54864" marR="54864" marT="27432" marB="27432" anchor="ctr">
                    <a:solidFill>
                      <a:srgbClr val="FFFFFF"/>
                    </a:solidFill>
                  </a:tcPr>
                </a:tc>
                <a:extLst>
                  <a:ext uri="{0D108BD9-81ED-4DB2-BD59-A6C34878D82A}">
                    <a16:rowId xmlns:a16="http://schemas.microsoft.com/office/drawing/2014/main" val="10003"/>
                  </a:ext>
                </a:extLst>
              </a:tr>
              <a:tr h="919218">
                <a:tc>
                  <a:txBody>
                    <a:bodyPr/>
                    <a:lstStyle/>
                    <a:p>
                      <a:pPr algn="l"/>
                      <a:r>
                        <a:rPr sz="1800" b="0">
                          <a:solidFill>
                            <a:schemeClr val="tx1"/>
                          </a:solidFill>
                          <a:latin typeface="Calibri"/>
                        </a:rPr>
                        <a:t>9</a:t>
                      </a:r>
                    </a:p>
                  </a:txBody>
                  <a:tcPr marL="54864" marR="54864" marT="27432" marB="27432" anchor="ctr">
                    <a:solidFill>
                      <a:srgbClr val="F5F6F5"/>
                    </a:solidFill>
                  </a:tcPr>
                </a:tc>
                <a:tc>
                  <a:txBody>
                    <a:bodyPr/>
                    <a:lstStyle/>
                    <a:p>
                      <a:pPr algn="l"/>
                      <a:r>
                        <a:rPr sz="1800" b="0">
                          <a:solidFill>
                            <a:schemeClr val="tx1"/>
                          </a:solidFill>
                          <a:latin typeface="Calibri"/>
                        </a:rPr>
                        <a:t>Advancing battery research through large language models: A review</a:t>
                      </a:r>
                    </a:p>
                  </a:txBody>
                  <a:tcPr marL="54864" marR="54864" marT="27432" marB="27432" anchor="ctr">
                    <a:solidFill>
                      <a:srgbClr val="F5F6F5"/>
                    </a:solidFill>
                  </a:tcPr>
                </a:tc>
                <a:tc>
                  <a:txBody>
                    <a:bodyPr/>
                    <a:lstStyle/>
                    <a:p>
                      <a:pPr lvl="0" algn="l">
                        <a:buNone/>
                      </a:pPr>
                      <a:r>
                        <a:rPr lang="en-US" sz="1800" b="0" i="0" u="none" strike="noStrike" noProof="0">
                          <a:solidFill>
                            <a:schemeClr val="tx1"/>
                          </a:solidFill>
                          <a:latin typeface="Calibri"/>
                          <a:ea typeface="Calibri"/>
                          <a:cs typeface="Calibri"/>
                        </a:rPr>
                        <a:t>LLM + RAG</a:t>
                      </a:r>
                    </a:p>
                  </a:txBody>
                  <a:tcPr marL="54864" marR="54864" marT="27432" marB="27432" anchor="ctr">
                    <a:solidFill>
                      <a:srgbClr val="F5F6F5"/>
                    </a:solidFill>
                  </a:tcPr>
                </a:tc>
                <a:tc>
                  <a:txBody>
                    <a:bodyPr/>
                    <a:lstStyle/>
                    <a:p>
                      <a:pPr algn="l"/>
                      <a:r>
                        <a:rPr sz="1800" b="0">
                          <a:solidFill>
                            <a:schemeClr val="tx1"/>
                          </a:solidFill>
                          <a:latin typeface="Calibri"/>
                        </a:rPr>
                        <a:t>Detailed the paradigm shift of LLMs in battery knowledge iteration &amp; materials development</a:t>
                      </a:r>
                    </a:p>
                  </a:txBody>
                  <a:tcPr marL="54864" marR="54864" marT="27432" marB="27432" anchor="ctr">
                    <a:solidFill>
                      <a:srgbClr val="F5F6F5"/>
                    </a:solidFill>
                  </a:tcPr>
                </a:tc>
                <a:tc>
                  <a:txBody>
                    <a:bodyPr/>
                    <a:lstStyle/>
                    <a:p>
                      <a:pPr algn="l"/>
                      <a:r>
                        <a:rPr sz="1800" b="0">
                          <a:solidFill>
                            <a:schemeClr val="tx1"/>
                          </a:solidFill>
                          <a:latin typeface="Calibri"/>
                        </a:rPr>
                        <a:t>2025</a:t>
                      </a:r>
                    </a:p>
                  </a:txBody>
                  <a:tcPr marL="54864" marR="54864" marT="27432" marB="27432" anchor="ctr">
                    <a:solidFill>
                      <a:srgbClr val="F5F6F5"/>
                    </a:solidFill>
                  </a:tcPr>
                </a:tc>
                <a:extLst>
                  <a:ext uri="{0D108BD9-81ED-4DB2-BD59-A6C34878D82A}">
                    <a16:rowId xmlns:a16="http://schemas.microsoft.com/office/drawing/2014/main" val="10004"/>
                  </a:ext>
                </a:extLst>
              </a:tr>
              <a:tr h="919218">
                <a:tc>
                  <a:txBody>
                    <a:bodyPr/>
                    <a:lstStyle/>
                    <a:p>
                      <a:pPr algn="l"/>
                      <a:r>
                        <a:rPr sz="1800" b="0">
                          <a:solidFill>
                            <a:schemeClr val="tx1"/>
                          </a:solidFill>
                          <a:latin typeface="Calibri"/>
                        </a:rPr>
                        <a:t>10</a:t>
                      </a:r>
                    </a:p>
                  </a:txBody>
                  <a:tcPr marL="54864" marR="54864" marT="27432" marB="27432" anchor="ctr">
                    <a:solidFill>
                      <a:srgbClr val="FFFFFF"/>
                    </a:solidFill>
                  </a:tcPr>
                </a:tc>
                <a:tc>
                  <a:txBody>
                    <a:bodyPr/>
                    <a:lstStyle/>
                    <a:p>
                      <a:pPr algn="l"/>
                      <a:r>
                        <a:rPr sz="1800" b="0">
                          <a:solidFill>
                            <a:schemeClr val="tx1"/>
                          </a:solidFill>
                          <a:latin typeface="Calibri"/>
                        </a:rPr>
                        <a:t>Materials science in the era of large language models: a perspective</a:t>
                      </a:r>
                    </a:p>
                  </a:txBody>
                  <a:tcPr marL="54864" marR="54864" marT="27432" marB="27432" anchor="ctr">
                    <a:solidFill>
                      <a:srgbClr val="FFFFFF"/>
                    </a:solidFill>
                  </a:tcPr>
                </a:tc>
                <a:tc>
                  <a:txBody>
                    <a:bodyPr/>
                    <a:lstStyle/>
                    <a:p>
                      <a:pPr lvl="0" algn="l">
                        <a:buNone/>
                      </a:pPr>
                      <a:r>
                        <a:rPr lang="en-US" sz="1800" b="0" i="0" u="none" strike="noStrike" noProof="0">
                          <a:solidFill>
                            <a:schemeClr val="tx1"/>
                          </a:solidFill>
                          <a:latin typeface="Calibri"/>
                          <a:ea typeface="Calibri"/>
                          <a:cs typeface="Calibri"/>
                        </a:rPr>
                        <a:t>Prompt Engineering</a:t>
                      </a:r>
                      <a:endParaRPr lang="en-US">
                        <a:latin typeface="Calibri"/>
                        <a:ea typeface="Calibri"/>
                        <a:cs typeface="Calibri"/>
                      </a:endParaRPr>
                    </a:p>
                  </a:txBody>
                  <a:tcPr marL="54864" marR="54864" marT="27432" marB="27432" anchor="ctr">
                    <a:solidFill>
                      <a:srgbClr val="FFFFFF"/>
                    </a:solidFill>
                  </a:tcPr>
                </a:tc>
                <a:tc>
                  <a:txBody>
                    <a:bodyPr/>
                    <a:lstStyle/>
                    <a:p>
                      <a:pPr lvl="0" algn="l">
                        <a:buNone/>
                      </a:pPr>
                      <a:r>
                        <a:rPr lang="en-US" sz="1800" b="0" i="0" u="none" strike="noStrike" noProof="0">
                          <a:solidFill>
                            <a:schemeClr val="tx1"/>
                          </a:solidFill>
                          <a:latin typeface="Calibri"/>
                          <a:ea typeface="Calibri"/>
                          <a:cs typeface="Calibri"/>
                        </a:rPr>
                        <a:t>Studied how LLMs can be used in the future to make materials research faster, easier, and more automated</a:t>
                      </a:r>
                      <a:endParaRPr lang="en-US" sz="1800" b="0">
                        <a:solidFill>
                          <a:schemeClr val="tx1"/>
                        </a:solidFill>
                        <a:latin typeface="Calibri"/>
                        <a:ea typeface="Calibri"/>
                        <a:cs typeface="Calibri"/>
                      </a:endParaRPr>
                    </a:p>
                  </a:txBody>
                  <a:tcPr marL="54864" marR="54864" marT="27432" marB="27432" anchor="ctr">
                    <a:solidFill>
                      <a:srgbClr val="FFFFFF"/>
                    </a:solidFill>
                  </a:tcPr>
                </a:tc>
                <a:tc>
                  <a:txBody>
                    <a:bodyPr/>
                    <a:lstStyle/>
                    <a:p>
                      <a:pPr algn="l"/>
                      <a:r>
                        <a:rPr sz="1800" b="0">
                          <a:solidFill>
                            <a:schemeClr val="tx1"/>
                          </a:solidFill>
                          <a:latin typeface="Calibri"/>
                        </a:rPr>
                        <a:t>2024</a:t>
                      </a:r>
                    </a:p>
                  </a:txBody>
                  <a:tcPr marL="54864" marR="54864" marT="27432" marB="27432"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9337585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C252D-9FF0-85EF-093F-055C0F485883}"/>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sz="3000" b="1" i="0">
                <a:solidFill>
                  <a:srgbClr val="FFFFFF"/>
                </a:solidFill>
                <a:latin typeface="Calibri"/>
              </a:rPr>
              <a:t>4. Research Gap </a:t>
            </a:r>
          </a:p>
        </p:txBody>
      </p:sp>
      <p:sp>
        <p:nvSpPr>
          <p:cNvPr id="3" name="Rounded Rectangle 2"/>
          <p:cNvSpPr/>
          <p:nvPr/>
        </p:nvSpPr>
        <p:spPr>
          <a:xfrm>
            <a:off x="548640" y="1600200"/>
            <a:ext cx="11206480" cy="3931920"/>
          </a:xfrm>
          <a:prstGeom prst="roundRect">
            <a:avLst>
              <a:gd name="adj" fmla="val 6000"/>
            </a:avLst>
          </a:prstGeom>
          <a:solidFill>
            <a:srgbClr val="EBEDE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marL="285750" indent="-285750">
              <a:buFont typeface="Arial"/>
              <a:buChar char="•"/>
            </a:pPr>
            <a:r>
              <a:rPr lang="en-US" sz="2000">
                <a:solidFill>
                  <a:schemeClr val="tx1"/>
                </a:solidFill>
                <a:latin typeface="Calibri"/>
                <a:ea typeface="Calibri"/>
                <a:cs typeface="Calibri"/>
              </a:rPr>
              <a:t>Researchers spend excessive time searching multiple platforms for relevant information. </a:t>
            </a:r>
          </a:p>
          <a:p>
            <a:pPr marL="285750" indent="-285750">
              <a:buFont typeface="Arial"/>
              <a:buChar char="•"/>
            </a:pPr>
            <a:r>
              <a:rPr lang="en-US" sz="2000">
                <a:solidFill>
                  <a:schemeClr val="tx1"/>
                </a:solidFill>
                <a:latin typeface="Calibri"/>
                <a:ea typeface="Calibri"/>
                <a:cs typeface="Calibri"/>
              </a:rPr>
              <a:t>Existing AI assistants mainly perform document retrieval or question answering. </a:t>
            </a:r>
          </a:p>
          <a:p>
            <a:pPr marL="285750" indent="-285750">
              <a:buFont typeface="Arial"/>
              <a:buChar char="•"/>
            </a:pPr>
            <a:r>
              <a:rPr lang="en-US" sz="2000">
                <a:solidFill>
                  <a:schemeClr val="tx1"/>
                </a:solidFill>
                <a:latin typeface="Calibri"/>
                <a:ea typeface="Calibri"/>
                <a:cs typeface="Calibri"/>
              </a:rPr>
              <a:t>They cannot automatically organize knowledge, identify research gaps, or prepare structured reports. </a:t>
            </a:r>
            <a:endParaRPr sz="2000">
              <a:solidFill>
                <a:schemeClr val="tx1"/>
              </a:solidFill>
              <a:latin typeface="Calibri"/>
              <a:ea typeface="Calibri"/>
              <a:cs typeface="Calibri"/>
            </a:endParaRPr>
          </a:p>
          <a:p>
            <a:pPr marL="285750" indent="-285750">
              <a:buFont typeface="Arial"/>
              <a:buChar char="•"/>
            </a:pPr>
            <a:r>
              <a:rPr lang="en-US" sz="2000">
                <a:solidFill>
                  <a:schemeClr val="tx1"/>
                </a:solidFill>
                <a:latin typeface="Calibri"/>
                <a:ea typeface="Calibri"/>
                <a:cs typeface="Calibri"/>
              </a:rPr>
              <a:t>There is a need for an intelligent research assistant capable of automating the complete research workflow.</a:t>
            </a:r>
          </a:p>
          <a:p>
            <a:pPr marL="285750" indent="-285750">
              <a:lnSpc>
                <a:spcPct val="105000"/>
              </a:lnSpc>
              <a:spcBef>
                <a:spcPts val="400"/>
              </a:spcBef>
              <a:buFont typeface="Arial"/>
              <a:buChar char="•"/>
            </a:pPr>
            <a:r>
              <a:rPr sz="2000" b="0" i="0">
                <a:solidFill>
                  <a:schemeClr val="tx1"/>
                </a:solidFill>
                <a:latin typeface="Calibri"/>
              </a:rPr>
              <a:t>Papers such as Chat-RFB and </a:t>
            </a:r>
            <a:r>
              <a:rPr sz="2000" b="0" i="0" err="1">
                <a:solidFill>
                  <a:schemeClr val="tx1"/>
                </a:solidFill>
                <a:latin typeface="Calibri"/>
              </a:rPr>
              <a:t>ChatSSB</a:t>
            </a:r>
            <a:r>
              <a:rPr sz="2000" b="0" i="0">
                <a:solidFill>
                  <a:schemeClr val="tx1"/>
                </a:solidFill>
                <a:latin typeface="Calibri"/>
              </a:rPr>
              <a:t> successfully use LLMs for Question-Answering (acting as assistants), but stop at information retrieval. There is a lack of systems that use </a:t>
            </a:r>
            <a:r>
              <a:rPr lang="en-US" sz="2000">
                <a:solidFill>
                  <a:schemeClr val="tx1"/>
                </a:solidFill>
                <a:latin typeface="Calibri"/>
              </a:rPr>
              <a:t>Graph RAG</a:t>
            </a:r>
            <a:r>
              <a:rPr sz="2000" b="0" i="0">
                <a:solidFill>
                  <a:schemeClr val="tx1"/>
                </a:solidFill>
                <a:latin typeface="Calibri"/>
              </a:rPr>
              <a:t> as a validation engine inside a generative evolutionary loop to actually invent new materials.</a:t>
            </a:r>
            <a:endParaRPr sz="2000" b="0" i="0">
              <a:solidFill>
                <a:schemeClr val="tx1"/>
              </a:solidFill>
              <a:latin typeface="Calibri"/>
              <a:ea typeface="Calibri"/>
              <a:cs typeface="Calibri"/>
            </a:endParaRPr>
          </a:p>
          <a:p>
            <a:endParaRPr lang="en-US" sz="1600">
              <a:solidFill>
                <a:schemeClr val="tx1"/>
              </a:solidFill>
              <a:latin typeface="Calibri"/>
              <a:ea typeface="Calibri"/>
              <a:cs typeface="Calibri"/>
            </a:endParaRPr>
          </a:p>
          <a:p>
            <a:endParaRPr lang="en-US" sz="1600">
              <a:solidFill>
                <a:schemeClr val="tx1"/>
              </a:solidFill>
              <a:latin typeface="Calibri"/>
              <a:ea typeface="Calibri"/>
              <a:cs typeface="Calibri"/>
            </a:endParaRPr>
          </a:p>
          <a:p>
            <a:pPr>
              <a:lnSpc>
                <a:spcPct val="105000"/>
              </a:lnSpc>
              <a:spcBef>
                <a:spcPts val="400"/>
              </a:spcBef>
            </a:pPr>
            <a:endParaRPr lang="en-US" sz="1400">
              <a:solidFill>
                <a:schemeClr val="tx1"/>
              </a:solidFill>
              <a:latin typeface="Calibri"/>
              <a:ea typeface="Calibri"/>
              <a:cs typeface="Calibri"/>
            </a:endParaRPr>
          </a:p>
        </p:txBody>
      </p:sp>
    </p:spTree>
    <p:extLst>
      <p:ext uri="{BB962C8B-B14F-4D97-AF65-F5344CB8AC3E}">
        <p14:creationId xmlns:p14="http://schemas.microsoft.com/office/powerpoint/2010/main" val="28990238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FDC4B-464D-877E-FE73-1F7FC578CE3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35B1A14-EDC3-C722-E848-CBD83B747ECC}"/>
              </a:ext>
            </a:extLst>
          </p:cNvPr>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5</a:t>
            </a:r>
            <a:r>
              <a:rPr sz="3000" b="1" i="0">
                <a:solidFill>
                  <a:srgbClr val="FFFFFF"/>
                </a:solidFill>
                <a:latin typeface="Calibri"/>
              </a:rPr>
              <a:t>. Motivation</a:t>
            </a:r>
          </a:p>
        </p:txBody>
      </p:sp>
      <p:sp>
        <p:nvSpPr>
          <p:cNvPr id="3" name="Rounded Rectangle 2">
            <a:extLst>
              <a:ext uri="{FF2B5EF4-FFF2-40B4-BE49-F238E27FC236}">
                <a16:creationId xmlns:a16="http://schemas.microsoft.com/office/drawing/2014/main" id="{34A5A6DA-C22C-1074-9C4B-494A4D431D75}"/>
              </a:ext>
            </a:extLst>
          </p:cNvPr>
          <p:cNvSpPr/>
          <p:nvPr/>
        </p:nvSpPr>
        <p:spPr>
          <a:xfrm>
            <a:off x="548640" y="1600200"/>
            <a:ext cx="11318240" cy="3931920"/>
          </a:xfrm>
          <a:prstGeom prst="roundRect">
            <a:avLst>
              <a:gd name="adj" fmla="val 6000"/>
            </a:avLst>
          </a:prstGeom>
          <a:solidFill>
            <a:srgbClr val="EBEDE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9728" rIns="137160" bIns="91440" rtlCol="0" anchor="t"/>
          <a:lstStyle/>
          <a:p>
            <a:pPr marL="285750" indent="-285750">
              <a:buFont typeface="Arial"/>
              <a:buChar char="•"/>
            </a:pPr>
            <a:r>
              <a:rPr lang="en-US">
                <a:solidFill>
                  <a:schemeClr val="tx1"/>
                </a:solidFill>
                <a:ea typeface="+mn-lt"/>
                <a:cs typeface="+mn-lt"/>
              </a:rPr>
              <a:t>AURA is an AI-powered research assistant that automates the initial stages of scientific research. </a:t>
            </a:r>
            <a:endParaRPr lang="en-US">
              <a:solidFill>
                <a:schemeClr val="tx1"/>
              </a:solidFill>
              <a:ea typeface="Meiryo"/>
            </a:endParaRPr>
          </a:p>
          <a:p>
            <a:pPr marL="285750" indent="-285750">
              <a:buFont typeface="Arial"/>
              <a:buChar char="•"/>
            </a:pPr>
            <a:r>
              <a:rPr lang="en-US">
                <a:solidFill>
                  <a:schemeClr val="tx1"/>
                </a:solidFill>
                <a:ea typeface="+mn-lt"/>
                <a:cs typeface="+mn-lt"/>
              </a:rPr>
              <a:t>Instead of manually searching papers, datasets, and patents, users simply provide a research topic. </a:t>
            </a:r>
            <a:endParaRPr lang="en-US">
              <a:solidFill>
                <a:schemeClr val="tx1"/>
              </a:solidFill>
              <a:ea typeface="Meiryo"/>
            </a:endParaRPr>
          </a:p>
          <a:p>
            <a:pPr marL="285750" indent="-285750">
              <a:buFont typeface="Arial"/>
              <a:buChar char="•"/>
            </a:pPr>
            <a:r>
              <a:rPr lang="en-US">
                <a:solidFill>
                  <a:schemeClr val="tx1"/>
                </a:solidFill>
                <a:ea typeface="+mn-lt"/>
                <a:cs typeface="+mn-lt"/>
              </a:rPr>
              <a:t>The system uses multiple AI agents to collect, organize, analyze, and summarize research information. </a:t>
            </a:r>
            <a:endParaRPr lang="en-US">
              <a:solidFill>
                <a:schemeClr val="tx1"/>
              </a:solidFill>
              <a:ea typeface="Meiryo"/>
            </a:endParaRPr>
          </a:p>
          <a:p>
            <a:pPr marL="285750" indent="-285750">
              <a:buFont typeface="Arial"/>
              <a:buChar char="•"/>
            </a:pPr>
            <a:r>
              <a:rPr lang="en-US">
                <a:solidFill>
                  <a:schemeClr val="tx1"/>
                </a:solidFill>
                <a:ea typeface="+mn-lt"/>
                <a:cs typeface="+mn-lt"/>
              </a:rPr>
              <a:t>It builds a Knowledge Graph and Vector Database from collected documents. </a:t>
            </a:r>
            <a:endParaRPr lang="en-US">
              <a:solidFill>
                <a:schemeClr val="tx1"/>
              </a:solidFill>
              <a:ea typeface="Meiryo"/>
            </a:endParaRPr>
          </a:p>
          <a:p>
            <a:pPr marL="285750" indent="-285750">
              <a:buFont typeface="Arial"/>
              <a:buChar char="•"/>
            </a:pPr>
            <a:r>
              <a:rPr lang="en-US" err="1">
                <a:solidFill>
                  <a:schemeClr val="tx1"/>
                </a:solidFill>
                <a:ea typeface="+mn-lt"/>
                <a:cs typeface="+mn-lt"/>
              </a:rPr>
              <a:t>GraphRAG</a:t>
            </a:r>
            <a:r>
              <a:rPr lang="en-US">
                <a:solidFill>
                  <a:schemeClr val="tx1"/>
                </a:solidFill>
                <a:ea typeface="+mn-lt"/>
                <a:cs typeface="+mn-lt"/>
              </a:rPr>
              <a:t> enables relationship-aware reasoning across multiple research sources. </a:t>
            </a:r>
            <a:endParaRPr lang="en-US">
              <a:solidFill>
                <a:schemeClr val="tx1"/>
              </a:solidFill>
              <a:ea typeface="Meiryo"/>
            </a:endParaRPr>
          </a:p>
          <a:p>
            <a:pPr marL="285750" indent="-285750">
              <a:buFont typeface="Arial"/>
              <a:buChar char="•"/>
            </a:pPr>
            <a:r>
              <a:rPr lang="en-US">
                <a:solidFill>
                  <a:schemeClr val="tx1"/>
                </a:solidFill>
                <a:ea typeface="+mn-lt"/>
                <a:cs typeface="+mn-lt"/>
              </a:rPr>
              <a:t>Finally, the system generates a structured research report with literature review, related work, research gaps, and references. </a:t>
            </a:r>
            <a:endParaRPr lang="en-US">
              <a:solidFill>
                <a:schemeClr val="tx1"/>
              </a:solidFill>
              <a:ea typeface="Meiryo"/>
            </a:endParaRPr>
          </a:p>
          <a:p>
            <a:pPr algn="l"/>
            <a:endParaRPr lang="en-US" b="1">
              <a:solidFill>
                <a:schemeClr val="tx1"/>
              </a:solidFill>
              <a:latin typeface="Calibri"/>
              <a:ea typeface="Calibri"/>
              <a:cs typeface="Calibri"/>
            </a:endParaRPr>
          </a:p>
          <a:p>
            <a:pPr>
              <a:lnSpc>
                <a:spcPct val="105000"/>
              </a:lnSpc>
              <a:spcBef>
                <a:spcPts val="400"/>
              </a:spcBef>
            </a:pPr>
            <a:endParaRPr lang="en-US" sz="1400">
              <a:solidFill>
                <a:schemeClr val="tx1"/>
              </a:solidFill>
              <a:latin typeface="Calibri"/>
              <a:ea typeface="Calibri"/>
              <a:cs typeface="Calibri"/>
            </a:endParaRPr>
          </a:p>
        </p:txBody>
      </p:sp>
    </p:spTree>
    <p:extLst>
      <p:ext uri="{BB962C8B-B14F-4D97-AF65-F5344CB8AC3E}">
        <p14:creationId xmlns:p14="http://schemas.microsoft.com/office/powerpoint/2010/main" val="3728021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9AA45-BB7E-9B27-B7FD-285EAA718845}"/>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6</a:t>
            </a:r>
            <a:r>
              <a:rPr sz="3000" b="1" i="0">
                <a:solidFill>
                  <a:srgbClr val="FFFFFF"/>
                </a:solidFill>
                <a:latin typeface="Calibri"/>
              </a:rPr>
              <a:t>. Project Objectives</a:t>
            </a:r>
          </a:p>
        </p:txBody>
      </p:sp>
      <p:sp>
        <p:nvSpPr>
          <p:cNvPr id="11" name="TextBox 10">
            <a:extLst>
              <a:ext uri="{FF2B5EF4-FFF2-40B4-BE49-F238E27FC236}">
                <a16:creationId xmlns:a16="http://schemas.microsoft.com/office/drawing/2014/main" id="{B687EC2D-1B6E-8866-2E8D-51A520627092}"/>
              </a:ext>
            </a:extLst>
          </p:cNvPr>
          <p:cNvSpPr txBox="1"/>
          <p:nvPr/>
        </p:nvSpPr>
        <p:spPr>
          <a:xfrm>
            <a:off x="391271" y="1852014"/>
            <a:ext cx="11240766"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To develop a Hybrid Knowledge System by building a pipeline that ingests raw PDFs into both a </a:t>
            </a:r>
            <a:r>
              <a:rPr lang="en-US" err="1">
                <a:ea typeface="+mn-lt"/>
                <a:cs typeface="+mn-lt"/>
              </a:rPr>
              <a:t>ChromaDB</a:t>
            </a:r>
            <a:r>
              <a:rPr lang="en-US">
                <a:ea typeface="+mn-lt"/>
                <a:cs typeface="+mn-lt"/>
              </a:rPr>
              <a:t> vector store (for semantic context) and a Neo4j Knowledge Graph (for hard chemistry rules).</a:t>
            </a:r>
            <a:endParaRPr lang="en-US" err="1">
              <a:ea typeface="Meiryo"/>
            </a:endParaRPr>
          </a:p>
          <a:p>
            <a:pPr marL="285750" indent="-285750">
              <a:buFont typeface="Arial"/>
              <a:buChar char="•"/>
            </a:pPr>
            <a:endParaRPr lang="en-US">
              <a:ea typeface="+mn-lt"/>
              <a:cs typeface="+mn-lt"/>
            </a:endParaRPr>
          </a:p>
          <a:p>
            <a:pPr marL="285750" indent="-285750">
              <a:buFont typeface="Arial"/>
              <a:buChar char="•"/>
            </a:pPr>
            <a:r>
              <a:rPr lang="en-US">
                <a:ea typeface="+mn-lt"/>
                <a:cs typeface="+mn-lt"/>
              </a:rPr>
              <a:t>To implement an Evolutionary Engine by creating a Genetic Algorithm (Mutator Node) to computationally breed and mutate battery materials based on stoichiometric rules.</a:t>
            </a:r>
            <a:endParaRPr lang="en-US">
              <a:ea typeface="Meiryo"/>
            </a:endParaRPr>
          </a:p>
          <a:p>
            <a:pPr marL="285750" indent="-285750">
              <a:buFont typeface="Arial"/>
              <a:buChar char="•"/>
            </a:pPr>
            <a:endParaRPr lang="en-US">
              <a:ea typeface="+mn-lt"/>
              <a:cs typeface="+mn-lt"/>
            </a:endParaRPr>
          </a:p>
          <a:p>
            <a:pPr marL="285750" indent="-285750">
              <a:buFont typeface="Arial"/>
              <a:buChar char="•"/>
            </a:pPr>
            <a:r>
              <a:rPr lang="en-US">
                <a:ea typeface="+mn-lt"/>
                <a:cs typeface="+mn-lt"/>
              </a:rPr>
              <a:t>To use the Neo4j/</a:t>
            </a:r>
            <a:r>
              <a:rPr lang="en-US" err="1">
                <a:ea typeface="+mn-lt"/>
                <a:cs typeface="+mn-lt"/>
              </a:rPr>
              <a:t>ChromaDB</a:t>
            </a:r>
            <a:r>
              <a:rPr lang="en-US">
                <a:ea typeface="+mn-lt"/>
                <a:cs typeface="+mn-lt"/>
              </a:rPr>
              <a:t> hybrid engine to mathematically block chemically impossible  mutations (e.g., breaking valence rules) for validation of Graph RAG.</a:t>
            </a:r>
          </a:p>
          <a:p>
            <a:endParaRPr lang="en-US">
              <a:ea typeface="Meiryo"/>
            </a:endParaRPr>
          </a:p>
          <a:p>
            <a:pPr marL="285750" indent="-285750">
              <a:buFont typeface="Arial"/>
              <a:buChar char="•"/>
            </a:pPr>
            <a:r>
              <a:rPr lang="en-US">
                <a:ea typeface="+mn-lt"/>
                <a:cs typeface="+mn-lt"/>
              </a:rPr>
              <a:t>To use </a:t>
            </a:r>
            <a:r>
              <a:rPr lang="en-US" err="1">
                <a:ea typeface="+mn-lt"/>
                <a:cs typeface="+mn-lt"/>
              </a:rPr>
              <a:t>LangGraph</a:t>
            </a:r>
            <a:r>
              <a:rPr lang="en-US">
                <a:ea typeface="+mn-lt"/>
                <a:cs typeface="+mn-lt"/>
              </a:rPr>
              <a:t> to coordinate Planner, Mutator, Validator, and Predictor agents in a continuous loop until target properties are met.</a:t>
            </a:r>
            <a:endParaRPr lang="en-US">
              <a:ea typeface="Meiryo"/>
            </a:endParaRPr>
          </a:p>
        </p:txBody>
      </p:sp>
    </p:spTree>
    <p:extLst>
      <p:ext uri="{BB962C8B-B14F-4D97-AF65-F5344CB8AC3E}">
        <p14:creationId xmlns:p14="http://schemas.microsoft.com/office/powerpoint/2010/main" val="11990485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950F3-2BEF-E012-472A-01638F310FDA}"/>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7</a:t>
            </a:r>
            <a:r>
              <a:rPr sz="3000" b="1" i="0">
                <a:solidFill>
                  <a:srgbClr val="FFFFFF"/>
                </a:solidFill>
                <a:latin typeface="Calibri"/>
              </a:rPr>
              <a:t>. Methodology / Proposed Work Pipeline</a:t>
            </a:r>
          </a:p>
        </p:txBody>
      </p:sp>
      <p:sp>
        <p:nvSpPr>
          <p:cNvPr id="15" name="TextBox 14">
            <a:extLst>
              <a:ext uri="{FF2B5EF4-FFF2-40B4-BE49-F238E27FC236}">
                <a16:creationId xmlns:a16="http://schemas.microsoft.com/office/drawing/2014/main" id="{B1B7F5CC-0316-E719-1F7B-DAAD626A6E7E}"/>
              </a:ext>
            </a:extLst>
          </p:cNvPr>
          <p:cNvSpPr txBox="1"/>
          <p:nvPr/>
        </p:nvSpPr>
        <p:spPr>
          <a:xfrm>
            <a:off x="114643" y="1481487"/>
            <a:ext cx="1162116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a:ea typeface="+mn-lt"/>
                <a:cs typeface="+mn-lt"/>
              </a:rPr>
              <a:t>Data Ingestion: Parse unstructured battery literature (PDFs), chunk the text using a </a:t>
            </a:r>
            <a:r>
              <a:rPr lang="en-US" err="1">
                <a:ea typeface="+mn-lt"/>
                <a:cs typeface="+mn-lt"/>
              </a:rPr>
              <a:t>SemanticTextSplitter</a:t>
            </a:r>
            <a:r>
              <a:rPr lang="en-US">
                <a:ea typeface="+mn-lt"/>
                <a:cs typeface="+mn-lt"/>
              </a:rPr>
              <a:t>, and generate local embeddings using all-MiniLM-L6-v2.</a:t>
            </a:r>
            <a:endParaRPr lang="en-US">
              <a:ea typeface="Meiryo"/>
            </a:endParaRPr>
          </a:p>
          <a:p>
            <a:pPr marL="285750" indent="-285750">
              <a:buFont typeface="Arial"/>
              <a:buChar char="•"/>
            </a:pPr>
            <a:endParaRPr lang="en-US">
              <a:ea typeface="+mn-lt"/>
              <a:cs typeface="+mn-lt"/>
            </a:endParaRPr>
          </a:p>
          <a:p>
            <a:pPr marL="285750" indent="-285750">
              <a:buFont typeface="Arial"/>
              <a:buChar char="•"/>
            </a:pPr>
            <a:r>
              <a:rPr lang="en-US">
                <a:ea typeface="+mn-lt"/>
                <a:cs typeface="+mn-lt"/>
              </a:rPr>
              <a:t>Knowledge Graph Seeding &amp; Extraction: Seed Neo4j with fundamental ground truths </a:t>
            </a:r>
            <a:br>
              <a:rPr lang="en-US">
                <a:ea typeface="+mn-lt"/>
                <a:cs typeface="+mn-lt"/>
              </a:rPr>
            </a:br>
            <a:r>
              <a:rPr lang="en-US">
                <a:ea typeface="+mn-lt"/>
                <a:cs typeface="+mn-lt"/>
              </a:rPr>
              <a:t>(</a:t>
            </a:r>
            <a:r>
              <a:rPr lang="en-US" err="1">
                <a:ea typeface="+mn-lt"/>
                <a:cs typeface="+mn-lt"/>
              </a:rPr>
              <a:t>seed_graph</a:t>
            </a:r>
            <a:r>
              <a:rPr lang="en-US">
                <a:ea typeface="+mn-lt"/>
                <a:cs typeface="+mn-lt"/>
              </a:rPr>
              <a:t>. </a:t>
            </a:r>
            <a:r>
              <a:rPr lang="en-US" err="1">
                <a:ea typeface="+mn-lt"/>
                <a:cs typeface="+mn-lt"/>
              </a:rPr>
              <a:t>json</a:t>
            </a:r>
            <a:r>
              <a:rPr lang="en-US">
                <a:ea typeface="+mn-lt"/>
                <a:cs typeface="+mn-lt"/>
              </a:rPr>
              <a:t> ), then dynamically extract new Subject-Predicate-Object triplets from the literature using an LLM.</a:t>
            </a:r>
            <a:endParaRPr lang="en-US">
              <a:ea typeface="Meiryo"/>
            </a:endParaRPr>
          </a:p>
          <a:p>
            <a:endParaRPr lang="en-US">
              <a:ea typeface="+mn-lt"/>
              <a:cs typeface="+mn-lt"/>
            </a:endParaRPr>
          </a:p>
          <a:p>
            <a:pPr marL="285750" indent="-285750">
              <a:buFont typeface="Arial"/>
              <a:buChar char="•"/>
            </a:pPr>
            <a:r>
              <a:rPr lang="en-US">
                <a:ea typeface="+mn-lt"/>
                <a:cs typeface="+mn-lt"/>
              </a:rPr>
              <a:t>Agentic Planning: A Planner agent translates natural language user prompts (e.g., "Cobalt-free") into strict mathematical JSON constraints.</a:t>
            </a:r>
            <a:endParaRPr lang="en-US">
              <a:ea typeface="Meiryo"/>
            </a:endParaRPr>
          </a:p>
          <a:p>
            <a:endParaRPr lang="en-US">
              <a:ea typeface="+mn-lt"/>
              <a:cs typeface="+mn-lt"/>
            </a:endParaRPr>
          </a:p>
          <a:p>
            <a:pPr marL="285750" indent="-285750">
              <a:buFont typeface="Arial"/>
              <a:buChar char="•"/>
            </a:pPr>
            <a:r>
              <a:rPr lang="en-US">
                <a:ea typeface="+mn-lt"/>
                <a:cs typeface="+mn-lt"/>
              </a:rPr>
              <a:t>Genetic Evolution (The Loop): A population of baseline materials undergoes tournament selection, crossover, and elemental substitution.</a:t>
            </a:r>
            <a:endParaRPr lang="en-US">
              <a:ea typeface="Meiryo"/>
            </a:endParaRPr>
          </a:p>
          <a:p>
            <a:endParaRPr lang="en-US">
              <a:ea typeface="+mn-lt"/>
              <a:cs typeface="+mn-lt"/>
            </a:endParaRPr>
          </a:p>
          <a:p>
            <a:pPr marL="285750" indent="-285750">
              <a:buFont typeface="Arial"/>
              <a:buChar char="•"/>
            </a:pPr>
            <a:r>
              <a:rPr lang="en-US">
                <a:ea typeface="+mn-lt"/>
                <a:cs typeface="+mn-lt"/>
              </a:rPr>
              <a:t>Hybrid </a:t>
            </a:r>
            <a:r>
              <a:rPr lang="en-US" err="1">
                <a:ea typeface="+mn-lt"/>
                <a:cs typeface="+mn-lt"/>
              </a:rPr>
              <a:t>GraphRAG</a:t>
            </a:r>
            <a:r>
              <a:rPr lang="en-US">
                <a:ea typeface="+mn-lt"/>
                <a:cs typeface="+mn-lt"/>
              </a:rPr>
              <a:t> Prediction: Mutated materials are cross-referenced against Neo4j (for validity) and </a:t>
            </a:r>
            <a:r>
              <a:rPr lang="en-US" err="1">
                <a:ea typeface="+mn-lt"/>
                <a:cs typeface="+mn-lt"/>
              </a:rPr>
              <a:t>ChromaDB</a:t>
            </a:r>
            <a:r>
              <a:rPr lang="en-US">
                <a:ea typeface="+mn-lt"/>
                <a:cs typeface="+mn-lt"/>
              </a:rPr>
              <a:t> (for context). Valid materials are sent to an LLM Predictor to estimate Capacity, Cost, and Cycle Life.</a:t>
            </a:r>
            <a:endParaRPr lang="en-US">
              <a:ea typeface="Meiryo"/>
            </a:endParaRPr>
          </a:p>
        </p:txBody>
      </p:sp>
    </p:spTree>
    <p:extLst>
      <p:ext uri="{BB962C8B-B14F-4D97-AF65-F5344CB8AC3E}">
        <p14:creationId xmlns:p14="http://schemas.microsoft.com/office/powerpoint/2010/main" val="332602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4F0E-4CB3-60EB-1BF9-7735B0DF5A4E}"/>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8</a:t>
            </a:r>
            <a:r>
              <a:rPr sz="3000" b="1" i="0">
                <a:solidFill>
                  <a:srgbClr val="FFFFFF"/>
                </a:solidFill>
                <a:latin typeface="Calibri"/>
              </a:rPr>
              <a:t>. Tech Stack</a:t>
            </a:r>
          </a:p>
        </p:txBody>
      </p:sp>
      <p:sp>
        <p:nvSpPr>
          <p:cNvPr id="3" name="Rounded Rectangle 2"/>
          <p:cNvSpPr/>
          <p:nvPr/>
        </p:nvSpPr>
        <p:spPr>
          <a:xfrm>
            <a:off x="548640" y="1600200"/>
            <a:ext cx="11091672" cy="658368"/>
          </a:xfrm>
          <a:prstGeom prst="roundRect">
            <a:avLst>
              <a:gd name="adj" fmla="val 12000"/>
            </a:avLst>
          </a:prstGeom>
          <a:solidFill>
            <a:srgbClr val="EBEDEB"/>
          </a:solidFill>
          <a:ln w="9525">
            <a:solidFill>
              <a:srgbClr val="EBEDEB"/>
            </a:solidFill>
          </a:ln>
          <a:effectLst/>
        </p:spPr>
        <p:style>
          <a:lnRef idx="1">
            <a:schemeClr val="accent1"/>
          </a:lnRef>
          <a:fillRef idx="3">
            <a:schemeClr val="accent1"/>
          </a:fillRef>
          <a:effectRef idx="2">
            <a:schemeClr val="accent1"/>
          </a:effectRef>
          <a:fontRef idx="minor">
            <a:schemeClr val="lt1"/>
          </a:fontRef>
        </p:style>
        <p:txBody>
          <a:bodyPr wrap="square" lIns="2103120" rIns="182880" rtlCol="0" anchor="ctr"/>
          <a:lstStyle/>
          <a:p>
            <a:r>
              <a:rPr sz="2000" b="0" i="0" dirty="0">
                <a:solidFill>
                  <a:srgbClr val="000000"/>
                </a:solidFill>
                <a:latin typeface="Calibri"/>
              </a:rPr>
              <a:t>React · Vite · </a:t>
            </a:r>
            <a:r>
              <a:rPr sz="2000" b="0" i="0" dirty="0" err="1">
                <a:solidFill>
                  <a:srgbClr val="000000"/>
                </a:solidFill>
                <a:latin typeface="Calibri"/>
              </a:rPr>
              <a:t>TailwindCSS</a:t>
            </a:r>
            <a:r>
              <a:rPr sz="2000" b="0" i="0" dirty="0">
                <a:solidFill>
                  <a:srgbClr val="000000"/>
                </a:solidFill>
                <a:latin typeface="Calibri"/>
              </a:rPr>
              <a:t> </a:t>
            </a:r>
            <a:r>
              <a:rPr lang="en-IN" sz="2000" dirty="0">
                <a:solidFill>
                  <a:srgbClr val="000000"/>
                </a:solidFill>
                <a:latin typeface="Calibri"/>
              </a:rPr>
              <a:t>· </a:t>
            </a:r>
            <a:r>
              <a:rPr sz="2000" b="0" i="0" dirty="0">
                <a:solidFill>
                  <a:srgbClr val="000000"/>
                </a:solidFill>
                <a:latin typeface="Calibri"/>
              </a:rPr>
              <a:t>react-force-graph</a:t>
            </a:r>
            <a:r>
              <a:rPr lang="en-IN" sz="2000" b="0" i="0" dirty="0">
                <a:solidFill>
                  <a:srgbClr val="000000"/>
                </a:solidFill>
                <a:latin typeface="Calibri"/>
              </a:rPr>
              <a:t>-2D</a:t>
            </a:r>
            <a:r>
              <a:rPr sz="2000" b="0" i="0" dirty="0">
                <a:solidFill>
                  <a:srgbClr val="000000"/>
                </a:solidFill>
                <a:latin typeface="Calibri"/>
              </a:rPr>
              <a:t> (KG visualization)</a:t>
            </a:r>
          </a:p>
        </p:txBody>
      </p:sp>
      <p:sp>
        <p:nvSpPr>
          <p:cNvPr id="4" name="TextBox 3"/>
          <p:cNvSpPr txBox="1"/>
          <p:nvPr/>
        </p:nvSpPr>
        <p:spPr>
          <a:xfrm>
            <a:off x="685800" y="1729330"/>
            <a:ext cx="1920240" cy="400110"/>
          </a:xfrm>
          <a:prstGeom prst="rect">
            <a:avLst/>
          </a:prstGeom>
          <a:noFill/>
        </p:spPr>
        <p:txBody>
          <a:bodyPr wrap="square" anchor="ctr">
            <a:spAutoFit/>
          </a:bodyPr>
          <a:lstStyle/>
          <a:p>
            <a:pPr algn="l"/>
            <a:r>
              <a:rPr sz="2000" b="1" i="0">
                <a:solidFill>
                  <a:srgbClr val="000000"/>
                </a:solidFill>
                <a:latin typeface="Calibri"/>
              </a:rPr>
              <a:t>Frontend</a:t>
            </a:r>
          </a:p>
        </p:txBody>
      </p:sp>
      <p:sp>
        <p:nvSpPr>
          <p:cNvPr id="5" name="Rounded Rectangle 4"/>
          <p:cNvSpPr/>
          <p:nvPr/>
        </p:nvSpPr>
        <p:spPr>
          <a:xfrm>
            <a:off x="548640" y="2350008"/>
            <a:ext cx="11091672" cy="658368"/>
          </a:xfrm>
          <a:prstGeom prst="roundRect">
            <a:avLst>
              <a:gd name="adj" fmla="val 12000"/>
            </a:avLst>
          </a:prstGeom>
          <a:solidFill>
            <a:srgbClr val="FFFFFF"/>
          </a:solidFill>
          <a:ln w="9525">
            <a:solidFill>
              <a:srgbClr val="EBEDEB"/>
            </a:solidFill>
          </a:ln>
          <a:effectLst/>
        </p:spPr>
        <p:style>
          <a:lnRef idx="1">
            <a:schemeClr val="accent1"/>
          </a:lnRef>
          <a:fillRef idx="3">
            <a:schemeClr val="accent1"/>
          </a:fillRef>
          <a:effectRef idx="2">
            <a:schemeClr val="accent1"/>
          </a:effectRef>
          <a:fontRef idx="minor">
            <a:schemeClr val="lt1"/>
          </a:fontRef>
        </p:style>
        <p:txBody>
          <a:bodyPr wrap="square" lIns="2103120" rIns="182880" rtlCol="0" anchor="ctr"/>
          <a:lstStyle/>
          <a:p>
            <a:pPr algn="l"/>
            <a:r>
              <a:rPr sz="2000" b="0" i="0">
                <a:solidFill>
                  <a:srgbClr val="000000"/>
                </a:solidFill>
                <a:latin typeface="Calibri"/>
              </a:rPr>
              <a:t>FastAPI (Python) · OpenRouter (LLM Gateway)</a:t>
            </a:r>
          </a:p>
        </p:txBody>
      </p:sp>
      <p:sp>
        <p:nvSpPr>
          <p:cNvPr id="6" name="TextBox 5"/>
          <p:cNvSpPr txBox="1"/>
          <p:nvPr/>
        </p:nvSpPr>
        <p:spPr>
          <a:xfrm>
            <a:off x="685800" y="2479138"/>
            <a:ext cx="1920240" cy="400110"/>
          </a:xfrm>
          <a:prstGeom prst="rect">
            <a:avLst/>
          </a:prstGeom>
          <a:noFill/>
        </p:spPr>
        <p:txBody>
          <a:bodyPr wrap="square" anchor="ctr">
            <a:spAutoFit/>
          </a:bodyPr>
          <a:lstStyle/>
          <a:p>
            <a:pPr algn="l"/>
            <a:r>
              <a:rPr sz="2000" b="1" i="0">
                <a:solidFill>
                  <a:srgbClr val="000000"/>
                </a:solidFill>
                <a:latin typeface="Calibri"/>
              </a:rPr>
              <a:t>Backend API</a:t>
            </a:r>
          </a:p>
        </p:txBody>
      </p:sp>
      <p:sp>
        <p:nvSpPr>
          <p:cNvPr id="7" name="Rounded Rectangle 6"/>
          <p:cNvSpPr/>
          <p:nvPr/>
        </p:nvSpPr>
        <p:spPr>
          <a:xfrm>
            <a:off x="548640" y="3099816"/>
            <a:ext cx="11091672" cy="658368"/>
          </a:xfrm>
          <a:prstGeom prst="roundRect">
            <a:avLst>
              <a:gd name="adj" fmla="val 12000"/>
            </a:avLst>
          </a:prstGeom>
          <a:solidFill>
            <a:srgbClr val="EBEDEB"/>
          </a:solidFill>
          <a:ln w="9525">
            <a:solidFill>
              <a:srgbClr val="EBEDEB"/>
            </a:solidFill>
          </a:ln>
          <a:effectLst/>
        </p:spPr>
        <p:style>
          <a:lnRef idx="1">
            <a:schemeClr val="accent1"/>
          </a:lnRef>
          <a:fillRef idx="3">
            <a:schemeClr val="accent1"/>
          </a:fillRef>
          <a:effectRef idx="2">
            <a:schemeClr val="accent1"/>
          </a:effectRef>
          <a:fontRef idx="minor">
            <a:schemeClr val="lt1"/>
          </a:fontRef>
        </p:style>
        <p:txBody>
          <a:bodyPr wrap="square" lIns="2103120" rIns="182880" rtlCol="0" anchor="ctr"/>
          <a:lstStyle/>
          <a:p>
            <a:pPr algn="l"/>
            <a:r>
              <a:rPr sz="2000" b="0" i="0">
                <a:solidFill>
                  <a:srgbClr val="000000"/>
                </a:solidFill>
                <a:latin typeface="Calibri"/>
              </a:rPr>
              <a:t>LangGraph (multi-agent loop) · Celery (background worker) · Redis (message broker)</a:t>
            </a:r>
          </a:p>
        </p:txBody>
      </p:sp>
      <p:sp>
        <p:nvSpPr>
          <p:cNvPr id="8" name="TextBox 7"/>
          <p:cNvSpPr txBox="1"/>
          <p:nvPr/>
        </p:nvSpPr>
        <p:spPr>
          <a:xfrm>
            <a:off x="685800" y="3075059"/>
            <a:ext cx="1920240" cy="707886"/>
          </a:xfrm>
          <a:prstGeom prst="rect">
            <a:avLst/>
          </a:prstGeom>
          <a:noFill/>
        </p:spPr>
        <p:txBody>
          <a:bodyPr wrap="square" anchor="ctr">
            <a:spAutoFit/>
          </a:bodyPr>
          <a:lstStyle/>
          <a:p>
            <a:pPr algn="l"/>
            <a:r>
              <a:rPr sz="2000" b="1" i="0">
                <a:solidFill>
                  <a:srgbClr val="000000"/>
                </a:solidFill>
                <a:latin typeface="Calibri"/>
              </a:rPr>
              <a:t>Task Orchestration</a:t>
            </a:r>
          </a:p>
        </p:txBody>
      </p:sp>
      <p:sp>
        <p:nvSpPr>
          <p:cNvPr id="9" name="Rounded Rectangle 8"/>
          <p:cNvSpPr/>
          <p:nvPr/>
        </p:nvSpPr>
        <p:spPr>
          <a:xfrm>
            <a:off x="548640" y="3849624"/>
            <a:ext cx="11091672" cy="658368"/>
          </a:xfrm>
          <a:prstGeom prst="roundRect">
            <a:avLst>
              <a:gd name="adj" fmla="val 12000"/>
            </a:avLst>
          </a:prstGeom>
          <a:solidFill>
            <a:srgbClr val="FFFFFF"/>
          </a:solidFill>
          <a:ln w="9525">
            <a:solidFill>
              <a:srgbClr val="EBEDEB"/>
            </a:solidFill>
          </a:ln>
          <a:effectLst/>
        </p:spPr>
        <p:style>
          <a:lnRef idx="1">
            <a:schemeClr val="accent1"/>
          </a:lnRef>
          <a:fillRef idx="3">
            <a:schemeClr val="accent1"/>
          </a:fillRef>
          <a:effectRef idx="2">
            <a:schemeClr val="accent1"/>
          </a:effectRef>
          <a:fontRef idx="minor">
            <a:schemeClr val="lt1"/>
          </a:fontRef>
        </p:style>
        <p:txBody>
          <a:bodyPr wrap="square" lIns="2103120" rIns="182880" rtlCol="0" anchor="ctr"/>
          <a:lstStyle/>
          <a:p>
            <a:pPr algn="l"/>
            <a:r>
              <a:rPr sz="2000" b="0" i="0">
                <a:solidFill>
                  <a:srgbClr val="000000"/>
                </a:solidFill>
                <a:latin typeface="Calibri"/>
              </a:rPr>
              <a:t>Supabase / PostgreSQL (auth &amp; relational) · ChromaDB (vector) · Neo4j AuraDB (graph)</a:t>
            </a:r>
          </a:p>
        </p:txBody>
      </p:sp>
      <p:sp>
        <p:nvSpPr>
          <p:cNvPr id="10" name="TextBox 9"/>
          <p:cNvSpPr txBox="1"/>
          <p:nvPr/>
        </p:nvSpPr>
        <p:spPr>
          <a:xfrm>
            <a:off x="685800" y="3978754"/>
            <a:ext cx="1920240" cy="400110"/>
          </a:xfrm>
          <a:prstGeom prst="rect">
            <a:avLst/>
          </a:prstGeom>
          <a:noFill/>
        </p:spPr>
        <p:txBody>
          <a:bodyPr wrap="square" anchor="ctr">
            <a:spAutoFit/>
          </a:bodyPr>
          <a:lstStyle/>
          <a:p>
            <a:pPr algn="l"/>
            <a:r>
              <a:rPr sz="2000" b="1" i="0">
                <a:solidFill>
                  <a:srgbClr val="000000"/>
                </a:solidFill>
                <a:latin typeface="Calibri"/>
              </a:rPr>
              <a:t>Databases</a:t>
            </a:r>
          </a:p>
        </p:txBody>
      </p:sp>
      <p:sp>
        <p:nvSpPr>
          <p:cNvPr id="11" name="Rounded Rectangle 10"/>
          <p:cNvSpPr/>
          <p:nvPr/>
        </p:nvSpPr>
        <p:spPr>
          <a:xfrm>
            <a:off x="548640" y="4599432"/>
            <a:ext cx="11091672" cy="658368"/>
          </a:xfrm>
          <a:prstGeom prst="roundRect">
            <a:avLst>
              <a:gd name="adj" fmla="val 12000"/>
            </a:avLst>
          </a:prstGeom>
          <a:solidFill>
            <a:srgbClr val="EBEDEB"/>
          </a:solidFill>
          <a:ln w="9525">
            <a:solidFill>
              <a:srgbClr val="EBEDEB"/>
            </a:solidFill>
          </a:ln>
          <a:effectLst/>
        </p:spPr>
        <p:style>
          <a:lnRef idx="1">
            <a:schemeClr val="accent1"/>
          </a:lnRef>
          <a:fillRef idx="3">
            <a:schemeClr val="accent1"/>
          </a:fillRef>
          <a:effectRef idx="2">
            <a:schemeClr val="accent1"/>
          </a:effectRef>
          <a:fontRef idx="minor">
            <a:schemeClr val="lt1"/>
          </a:fontRef>
        </p:style>
        <p:txBody>
          <a:bodyPr wrap="square" lIns="2103120" rIns="182880" rtlCol="0" anchor="ctr"/>
          <a:lstStyle/>
          <a:p>
            <a:pPr algn="l"/>
            <a:r>
              <a:rPr sz="2000" b="0" i="0" dirty="0">
                <a:solidFill>
                  <a:srgbClr val="000000"/>
                </a:solidFill>
                <a:latin typeface="Calibri"/>
              </a:rPr>
              <a:t>Hugging Face</a:t>
            </a:r>
            <a:r>
              <a:rPr lang="en-IN" sz="2000" b="0" i="0" dirty="0">
                <a:solidFill>
                  <a:srgbClr val="000000"/>
                </a:solidFill>
                <a:latin typeface="Calibri"/>
              </a:rPr>
              <a:t> </a:t>
            </a:r>
            <a:r>
              <a:rPr sz="2000" b="0" i="0" dirty="0">
                <a:solidFill>
                  <a:srgbClr val="000000"/>
                </a:solidFill>
                <a:latin typeface="Calibri"/>
              </a:rPr>
              <a:t>all-MiniLM-L6-v2 · Claude 3.5 Sonnet / GPT-4o</a:t>
            </a:r>
          </a:p>
        </p:txBody>
      </p:sp>
      <p:sp>
        <p:nvSpPr>
          <p:cNvPr id="12" name="TextBox 11"/>
          <p:cNvSpPr txBox="1"/>
          <p:nvPr/>
        </p:nvSpPr>
        <p:spPr>
          <a:xfrm>
            <a:off x="685800" y="4728562"/>
            <a:ext cx="1920240" cy="400110"/>
          </a:xfrm>
          <a:prstGeom prst="rect">
            <a:avLst/>
          </a:prstGeom>
          <a:noFill/>
        </p:spPr>
        <p:txBody>
          <a:bodyPr wrap="square" anchor="ctr">
            <a:spAutoFit/>
          </a:bodyPr>
          <a:lstStyle/>
          <a:p>
            <a:pPr algn="l"/>
            <a:r>
              <a:rPr sz="2000" b="1" i="0">
                <a:solidFill>
                  <a:srgbClr val="000000"/>
                </a:solidFill>
                <a:latin typeface="Calibri"/>
              </a:rPr>
              <a:t>AI / ML Models</a:t>
            </a:r>
          </a:p>
        </p:txBody>
      </p:sp>
    </p:spTree>
    <p:extLst>
      <p:ext uri="{BB962C8B-B14F-4D97-AF65-F5344CB8AC3E}">
        <p14:creationId xmlns:p14="http://schemas.microsoft.com/office/powerpoint/2010/main" val="435305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8660AF-8E48-2AD4-EC1D-264C9D282A14}"/>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9</a:t>
            </a:r>
            <a:r>
              <a:rPr sz="3000" b="1" i="0">
                <a:solidFill>
                  <a:srgbClr val="FFFFFF"/>
                </a:solidFill>
                <a:latin typeface="Calibri"/>
              </a:rPr>
              <a:t>. Preliminary Results and Discussion</a:t>
            </a:r>
          </a:p>
        </p:txBody>
      </p:sp>
      <p:sp>
        <p:nvSpPr>
          <p:cNvPr id="6" name="TextBox 5">
            <a:extLst>
              <a:ext uri="{FF2B5EF4-FFF2-40B4-BE49-F238E27FC236}">
                <a16:creationId xmlns:a16="http://schemas.microsoft.com/office/drawing/2014/main" id="{24BB66C3-118E-BDDA-CFF3-02283BC9ACAD}"/>
              </a:ext>
            </a:extLst>
          </p:cNvPr>
          <p:cNvSpPr txBox="1"/>
          <p:nvPr/>
        </p:nvSpPr>
        <p:spPr>
          <a:xfrm>
            <a:off x="73428" y="1597702"/>
            <a:ext cx="4818898"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endParaRPr lang="en-US">
              <a:ea typeface="+mn-lt"/>
              <a:cs typeface="+mn-lt"/>
            </a:endParaRPr>
          </a:p>
          <a:p>
            <a:pPr marL="285750" indent="-285750">
              <a:buFont typeface="Arial"/>
              <a:buChar char="•"/>
            </a:pPr>
            <a:r>
              <a:rPr lang="en-US">
                <a:ea typeface="+mn-lt"/>
                <a:cs typeface="+mn-lt"/>
              </a:rPr>
              <a:t>Hallucination Prevention: The Hybrid </a:t>
            </a:r>
            <a:r>
              <a:rPr lang="en-US" err="1">
                <a:ea typeface="+mn-lt"/>
                <a:cs typeface="+mn-lt"/>
              </a:rPr>
              <a:t>GraphRAG</a:t>
            </a:r>
            <a:r>
              <a:rPr lang="en-US">
                <a:ea typeface="+mn-lt"/>
                <a:cs typeface="+mn-lt"/>
              </a:rPr>
              <a:t> effectively blocks the Predictor LLM from hallucinating by forcing it to read hard chemistry facts from Neo4j alongside its semantic context.</a:t>
            </a:r>
            <a:endParaRPr lang="en-US">
              <a:ea typeface="Meiryo"/>
            </a:endParaRPr>
          </a:p>
          <a:p>
            <a:pPr marL="285750" indent="-285750">
              <a:buFont typeface="Arial"/>
              <a:buChar char="•"/>
            </a:pPr>
            <a:endParaRPr lang="en-US">
              <a:ea typeface="+mn-lt"/>
              <a:cs typeface="+mn-lt"/>
            </a:endParaRPr>
          </a:p>
          <a:p>
            <a:pPr marL="285750" indent="-285750">
              <a:buFont typeface="Arial"/>
              <a:buChar char="•"/>
            </a:pPr>
            <a:r>
              <a:rPr lang="en-US">
                <a:ea typeface="+mn-lt"/>
                <a:cs typeface="+mn-lt"/>
              </a:rPr>
              <a:t>Asynchronous Stability: Long-running evolutionary loops (3-5 minutes) execute flawlessly in the background using Celery/Redis without timing out the client, proving the system architecture is highly scalable.</a:t>
            </a:r>
            <a:endParaRPr lang="en-US">
              <a:ea typeface="Meiryo"/>
            </a:endParaRPr>
          </a:p>
        </p:txBody>
      </p:sp>
      <p:pic>
        <p:nvPicPr>
          <p:cNvPr id="3" name="Picture 2">
            <a:extLst>
              <a:ext uri="{FF2B5EF4-FFF2-40B4-BE49-F238E27FC236}">
                <a16:creationId xmlns:a16="http://schemas.microsoft.com/office/drawing/2014/main" id="{853845D4-5482-A40A-952A-57E603FFC23C}"/>
              </a:ext>
            </a:extLst>
          </p:cNvPr>
          <p:cNvPicPr>
            <a:picLocks noChangeAspect="1"/>
          </p:cNvPicPr>
          <p:nvPr/>
        </p:nvPicPr>
        <p:blipFill>
          <a:blip r:embed="rId3"/>
          <a:stretch>
            <a:fillRect/>
          </a:stretch>
        </p:blipFill>
        <p:spPr>
          <a:xfrm>
            <a:off x="4787154" y="1525391"/>
            <a:ext cx="7404847" cy="4120985"/>
          </a:xfrm>
          <a:prstGeom prst="rect">
            <a:avLst/>
          </a:prstGeom>
        </p:spPr>
      </p:pic>
    </p:spTree>
    <p:extLst>
      <p:ext uri="{BB962C8B-B14F-4D97-AF65-F5344CB8AC3E}">
        <p14:creationId xmlns:p14="http://schemas.microsoft.com/office/powerpoint/2010/main" val="1601531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AA31E8-724A-A515-7ABE-E24925B333B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2792054-85A2-81A9-0E77-4F751C12F4C3}"/>
              </a:ext>
            </a:extLst>
          </p:cNvPr>
          <p:cNvSpPr txBox="1"/>
          <p:nvPr/>
        </p:nvSpPr>
        <p:spPr>
          <a:xfrm>
            <a:off x="548640" y="413373"/>
            <a:ext cx="11091672" cy="553998"/>
          </a:xfrm>
          <a:prstGeom prst="rect">
            <a:avLst/>
          </a:prstGeom>
          <a:noFill/>
        </p:spPr>
        <p:txBody>
          <a:bodyPr wrap="square" lIns="91440" tIns="45720" rIns="91440" bIns="45720" anchor="ctr">
            <a:spAutoFit/>
          </a:bodyPr>
          <a:lstStyle/>
          <a:p>
            <a:r>
              <a:rPr lang="en-US" sz="3000" b="1">
                <a:solidFill>
                  <a:srgbClr val="FFFFFF"/>
                </a:solidFill>
                <a:latin typeface="Calibri"/>
                <a:ea typeface="Calibri"/>
                <a:cs typeface="Calibri"/>
              </a:rPr>
              <a:t>10. Proposed Workflow</a:t>
            </a:r>
            <a:endParaRPr lang="en-US"/>
          </a:p>
        </p:txBody>
      </p:sp>
      <p:pic>
        <p:nvPicPr>
          <p:cNvPr id="4" name="Picture 3">
            <a:extLst>
              <a:ext uri="{FF2B5EF4-FFF2-40B4-BE49-F238E27FC236}">
                <a16:creationId xmlns:a16="http://schemas.microsoft.com/office/drawing/2014/main" id="{748F592B-1054-EEF6-3362-D8B501B43848}"/>
              </a:ext>
            </a:extLst>
          </p:cNvPr>
          <p:cNvPicPr>
            <a:picLocks noChangeAspect="1"/>
          </p:cNvPicPr>
          <p:nvPr/>
        </p:nvPicPr>
        <p:blipFill>
          <a:blip r:embed="rId3"/>
          <a:stretch>
            <a:fillRect/>
          </a:stretch>
        </p:blipFill>
        <p:spPr>
          <a:xfrm>
            <a:off x="446314" y="1163680"/>
            <a:ext cx="10765972" cy="5468303"/>
          </a:xfrm>
          <a:prstGeom prst="rect">
            <a:avLst/>
          </a:prstGeom>
        </p:spPr>
      </p:pic>
    </p:spTree>
    <p:extLst>
      <p:ext uri="{BB962C8B-B14F-4D97-AF65-F5344CB8AC3E}">
        <p14:creationId xmlns:p14="http://schemas.microsoft.com/office/powerpoint/2010/main" val="390312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810F8-AB76-475C-FB42-DD414767C3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66C6F4-167D-E01D-1635-641010F6870A}"/>
              </a:ext>
            </a:extLst>
          </p:cNvPr>
          <p:cNvSpPr txBox="1"/>
          <p:nvPr/>
        </p:nvSpPr>
        <p:spPr>
          <a:xfrm>
            <a:off x="548640" y="413373"/>
            <a:ext cx="11091672" cy="553998"/>
          </a:xfrm>
          <a:prstGeom prst="rect">
            <a:avLst/>
          </a:prstGeom>
          <a:noFill/>
        </p:spPr>
        <p:txBody>
          <a:bodyPr wrap="square" lIns="91440" tIns="45720" rIns="91440" bIns="45720" anchor="ctr">
            <a:spAutoFit/>
          </a:bodyPr>
          <a:lstStyle/>
          <a:p>
            <a:r>
              <a:rPr lang="en-US" sz="3000" b="1">
                <a:solidFill>
                  <a:srgbClr val="FFFFFF"/>
                </a:solidFill>
                <a:latin typeface="Calibri"/>
                <a:ea typeface="Calibri"/>
                <a:cs typeface="Calibri"/>
              </a:rPr>
              <a:t>Current Workflow</a:t>
            </a:r>
            <a:endParaRPr lang="en-US"/>
          </a:p>
        </p:txBody>
      </p:sp>
      <p:sp>
        <p:nvSpPr>
          <p:cNvPr id="5" name="TextBox 4">
            <a:extLst>
              <a:ext uri="{FF2B5EF4-FFF2-40B4-BE49-F238E27FC236}">
                <a16:creationId xmlns:a16="http://schemas.microsoft.com/office/drawing/2014/main" id="{AA6BC841-013A-42B5-96DD-729E17DB8FE1}"/>
              </a:ext>
            </a:extLst>
          </p:cNvPr>
          <p:cNvSpPr txBox="1"/>
          <p:nvPr/>
        </p:nvSpPr>
        <p:spPr>
          <a:xfrm>
            <a:off x="546819" y="1634097"/>
            <a:ext cx="1113817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Calibri"/>
                <a:ea typeface="Calibri"/>
                <a:cs typeface="Calibri"/>
              </a:rPr>
              <a:t>1. Building the Memory (</a:t>
            </a:r>
            <a:r>
              <a:rPr lang="en-US" sz="2000" b="1" dirty="0" err="1">
                <a:latin typeface="Calibri"/>
                <a:ea typeface="Calibri"/>
                <a:cs typeface="Calibri"/>
              </a:rPr>
              <a:t>ChromaDB</a:t>
            </a:r>
            <a:r>
              <a:rPr lang="en-US" sz="2000" b="1" dirty="0">
                <a:latin typeface="Calibri"/>
                <a:ea typeface="Calibri"/>
                <a:cs typeface="Calibri"/>
              </a:rPr>
              <a:t> + Knowledge Graph)</a:t>
            </a:r>
          </a:p>
          <a:p>
            <a:endParaRPr lang="en-US" dirty="0">
              <a:latin typeface="Calibri"/>
              <a:ea typeface="Calibri"/>
              <a:cs typeface="Calibri"/>
            </a:endParaRPr>
          </a:p>
          <a:p>
            <a:pPr marL="285750" indent="-285750">
              <a:buFont typeface="Arial"/>
              <a:buChar char="•"/>
            </a:pPr>
            <a:r>
              <a:rPr lang="en-US" dirty="0">
                <a:latin typeface="Calibri"/>
                <a:ea typeface="Calibri"/>
                <a:cs typeface="Calibri"/>
              </a:rPr>
              <a:t>We built a dual-memory system, to make AI educated on Battery Materials</a:t>
            </a:r>
          </a:p>
          <a:p>
            <a:pPr marL="285750" indent="-285750">
              <a:buFont typeface="Arial"/>
              <a:buChar char="•"/>
            </a:pPr>
            <a:endParaRPr lang="en-US" dirty="0">
              <a:latin typeface="Calibri"/>
              <a:ea typeface="Calibri"/>
              <a:cs typeface="Calibri"/>
            </a:endParaRPr>
          </a:p>
          <a:p>
            <a:pPr marL="285750" indent="-285750">
              <a:buFont typeface="Arial"/>
              <a:buChar char="•"/>
            </a:pPr>
            <a:r>
              <a:rPr lang="en-US" dirty="0">
                <a:latin typeface="Calibri"/>
                <a:ea typeface="Calibri"/>
                <a:cs typeface="Calibri"/>
              </a:rPr>
              <a:t>PDF research papers are dropped into the system. The backend python scripts chop those papers into paragraphs, run them through an embedding model ( all-MiniLM-L6-v2 ), and save them in </a:t>
            </a:r>
            <a:r>
              <a:rPr lang="en-US" dirty="0" err="1">
                <a:latin typeface="Calibri"/>
                <a:ea typeface="Calibri"/>
                <a:cs typeface="Calibri"/>
              </a:rPr>
              <a:t>ChromaDB</a:t>
            </a:r>
            <a:r>
              <a:rPr lang="en-US" dirty="0">
                <a:latin typeface="Calibri"/>
                <a:ea typeface="Calibri"/>
                <a:cs typeface="Calibri"/>
              </a:rPr>
              <a:t>. This gives the Al the ability to do semantic searches.</a:t>
            </a:r>
          </a:p>
          <a:p>
            <a:pPr marL="285750" indent="-285750">
              <a:buFont typeface="Arial"/>
              <a:buChar char="•"/>
            </a:pPr>
            <a:endParaRPr lang="en-US" dirty="0">
              <a:latin typeface="Calibri"/>
              <a:ea typeface="Calibri"/>
              <a:cs typeface="Calibri"/>
            </a:endParaRPr>
          </a:p>
          <a:p>
            <a:pPr marL="285750" indent="-285750">
              <a:buFont typeface="Arial"/>
              <a:buChar char="•"/>
            </a:pPr>
            <a:r>
              <a:rPr lang="en-US" dirty="0">
                <a:solidFill>
                  <a:srgbClr val="000000"/>
                </a:solidFill>
                <a:latin typeface="Calibri"/>
                <a:ea typeface="Calibri"/>
                <a:cs typeface="Calibri"/>
              </a:rPr>
              <a:t>Simultaneously, we established a structured knowledge graph seeded with foundational, undeniable ground truths (e.g., "Lithium is an Alkali Metal</a:t>
            </a:r>
            <a:r>
              <a:rPr lang="en-US" dirty="0">
                <a:latin typeface="Calibri"/>
                <a:ea typeface="Calibri"/>
                <a:cs typeface="Calibri"/>
              </a:rPr>
              <a:t>") to act as the AI's absolute logic base.</a:t>
            </a:r>
          </a:p>
          <a:p>
            <a:pPr marL="285750" indent="-285750">
              <a:buFont typeface="Arial"/>
              <a:buChar char="•"/>
            </a:pPr>
            <a:endParaRPr lang="en-US" dirty="0">
              <a:latin typeface="Calibri"/>
              <a:ea typeface="Calibri"/>
              <a:cs typeface="Calibri"/>
            </a:endParaRPr>
          </a:p>
          <a:p>
            <a:pPr marL="285750" indent="-285750">
              <a:buFont typeface="Arial"/>
              <a:buChar char="•"/>
            </a:pPr>
            <a:r>
              <a:rPr lang="en-US" dirty="0">
                <a:latin typeface="Calibri"/>
                <a:ea typeface="Calibri"/>
                <a:cs typeface="Calibri"/>
              </a:rPr>
              <a:t> We developed a dynamic extraction pipeline where the AI pulls unstructured text from the semantic memory, distills it into strict relationship rules (Subject-Predicate-Object), and pushes them directly into the knowledge graph (Background Worker)</a:t>
            </a:r>
          </a:p>
        </p:txBody>
      </p:sp>
    </p:spTree>
    <p:extLst>
      <p:ext uri="{BB962C8B-B14F-4D97-AF65-F5344CB8AC3E}">
        <p14:creationId xmlns:p14="http://schemas.microsoft.com/office/powerpoint/2010/main" val="24249295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81C2F2-62F6-19A5-95C1-9E8803B1FC4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CC2CC9A-438B-D1BD-73B3-5807A9610E9A}"/>
              </a:ext>
            </a:extLst>
          </p:cNvPr>
          <p:cNvSpPr txBox="1"/>
          <p:nvPr/>
        </p:nvSpPr>
        <p:spPr>
          <a:xfrm>
            <a:off x="539496" y="413373"/>
            <a:ext cx="11091672" cy="553998"/>
          </a:xfrm>
          <a:prstGeom prst="rect">
            <a:avLst/>
          </a:prstGeom>
          <a:noFill/>
        </p:spPr>
        <p:txBody>
          <a:bodyPr wrap="square" lIns="91440" tIns="45720" rIns="91440" bIns="45720" anchor="ctr">
            <a:spAutoFit/>
          </a:bodyPr>
          <a:lstStyle/>
          <a:p>
            <a:r>
              <a:rPr lang="en-US" sz="3000" b="1">
                <a:solidFill>
                  <a:srgbClr val="FFFFFF"/>
                </a:solidFill>
                <a:latin typeface="Calibri"/>
                <a:ea typeface="Calibri"/>
                <a:cs typeface="Calibri"/>
              </a:rPr>
              <a:t>Current Workflow</a:t>
            </a:r>
            <a:endParaRPr lang="en-US">
              <a:ea typeface="Meiryo"/>
            </a:endParaRPr>
          </a:p>
        </p:txBody>
      </p:sp>
      <p:sp>
        <p:nvSpPr>
          <p:cNvPr id="5" name="TextBox 4">
            <a:extLst>
              <a:ext uri="{FF2B5EF4-FFF2-40B4-BE49-F238E27FC236}">
                <a16:creationId xmlns:a16="http://schemas.microsoft.com/office/drawing/2014/main" id="{1C2F9199-8580-1759-40A2-8E052B58C959}"/>
              </a:ext>
            </a:extLst>
          </p:cNvPr>
          <p:cNvSpPr txBox="1"/>
          <p:nvPr/>
        </p:nvSpPr>
        <p:spPr>
          <a:xfrm>
            <a:off x="546819" y="1634097"/>
            <a:ext cx="11138174"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latin typeface="Calibri"/>
                <a:ea typeface="Calibri"/>
                <a:cs typeface="Calibri"/>
              </a:rPr>
              <a:t>2. Background Worker (Redis + Celery)</a:t>
            </a:r>
          </a:p>
          <a:p>
            <a:endParaRPr lang="en-US">
              <a:latin typeface="Calibri"/>
              <a:ea typeface="Calibri"/>
              <a:cs typeface="Calibri"/>
            </a:endParaRPr>
          </a:p>
          <a:p>
            <a:r>
              <a:rPr lang="en-US">
                <a:latin typeface="Calibri"/>
                <a:ea typeface="Calibri"/>
                <a:cs typeface="Calibri"/>
              </a:rPr>
              <a:t>Massive Batch Processing: When triggered, the Celery background worker fetches all the raw scientific text chunks currently stored in </a:t>
            </a:r>
            <a:r>
              <a:rPr lang="en-US" err="1">
                <a:latin typeface="Calibri"/>
                <a:ea typeface="Calibri"/>
                <a:cs typeface="Calibri"/>
              </a:rPr>
              <a:t>ChromaDB</a:t>
            </a:r>
            <a:r>
              <a:rPr lang="en-US">
                <a:latin typeface="Calibri"/>
                <a:ea typeface="Calibri"/>
                <a:cs typeface="Calibri"/>
              </a:rPr>
              <a:t>.</a:t>
            </a:r>
          </a:p>
          <a:p>
            <a:endParaRPr lang="en-US">
              <a:latin typeface="Calibri"/>
              <a:ea typeface="Calibri"/>
              <a:cs typeface="Calibri"/>
            </a:endParaRPr>
          </a:p>
          <a:p>
            <a:r>
              <a:rPr lang="en-US">
                <a:latin typeface="Calibri"/>
                <a:ea typeface="Calibri"/>
                <a:cs typeface="Calibri"/>
              </a:rPr>
              <a:t>Concurrent LLM Extraction: Because reading thousands of paragraphs takes a long time, Celery processes the chunks in batches of 10 simultaneously. It uses a </a:t>
            </a:r>
            <a:r>
              <a:rPr lang="en-US" err="1">
                <a:latin typeface="Calibri"/>
                <a:ea typeface="Calibri"/>
                <a:cs typeface="Calibri"/>
              </a:rPr>
              <a:t>ThreadPoolExecutor</a:t>
            </a:r>
            <a:r>
              <a:rPr lang="en-US">
                <a:latin typeface="Calibri"/>
                <a:ea typeface="Calibri"/>
                <a:cs typeface="Calibri"/>
              </a:rPr>
              <a:t> to concurrently fire these chunks at the LLM, instructing it to extract strict scientific rules (Triplets).</a:t>
            </a:r>
          </a:p>
          <a:p>
            <a:endParaRPr lang="en-US">
              <a:latin typeface="Calibri"/>
              <a:ea typeface="Calibri"/>
              <a:cs typeface="Calibri"/>
            </a:endParaRPr>
          </a:p>
          <a:p>
            <a:r>
              <a:rPr lang="en-US">
                <a:latin typeface="Calibri"/>
                <a:ea typeface="Calibri"/>
                <a:cs typeface="Calibri"/>
              </a:rPr>
              <a:t>Direct Graph Ingestion: As soon as the LLM returns valid triplets (e.g., Cobalt -&gt; INCREASES -&gt; Cost), Celery automatically pushes and saves them directly into your Neo4j Knowledge Graph.</a:t>
            </a:r>
          </a:p>
          <a:p>
            <a:endParaRPr lang="en-US">
              <a:latin typeface="Calibri"/>
              <a:ea typeface="Calibri"/>
              <a:cs typeface="Calibri"/>
            </a:endParaRPr>
          </a:p>
          <a:p>
            <a:r>
              <a:rPr lang="en-US">
                <a:latin typeface="Calibri"/>
                <a:ea typeface="Calibri"/>
                <a:cs typeface="Calibri"/>
              </a:rPr>
              <a:t>Non-Blocking Progress: All of this runs completely in the background via Redis. The main web server never freezes, and Celery continuously emits its progress state (e.g., "Processed 50/1000 chunks") so the frontend can track its completion in real-time.</a:t>
            </a:r>
          </a:p>
        </p:txBody>
      </p:sp>
    </p:spTree>
    <p:extLst>
      <p:ext uri="{BB962C8B-B14F-4D97-AF65-F5344CB8AC3E}">
        <p14:creationId xmlns:p14="http://schemas.microsoft.com/office/powerpoint/2010/main" val="1075386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D51D8-D84A-0CCE-03B7-2B05BCBBE80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E5472DC-1179-9474-0E82-9451058B8E62}"/>
              </a:ext>
            </a:extLst>
          </p:cNvPr>
          <p:cNvSpPr txBox="1"/>
          <p:nvPr/>
        </p:nvSpPr>
        <p:spPr>
          <a:xfrm>
            <a:off x="548640" y="413373"/>
            <a:ext cx="11091672" cy="553998"/>
          </a:xfrm>
          <a:prstGeom prst="rect">
            <a:avLst/>
          </a:prstGeom>
          <a:noFill/>
        </p:spPr>
        <p:txBody>
          <a:bodyPr wrap="square" lIns="91440" tIns="45720" rIns="91440" bIns="45720" anchor="ctr">
            <a:spAutoFit/>
          </a:bodyPr>
          <a:lstStyle/>
          <a:p>
            <a:r>
              <a:rPr lang="en-US" sz="3000" b="1">
                <a:solidFill>
                  <a:srgbClr val="FFFFFF"/>
                </a:solidFill>
                <a:latin typeface="Calibri"/>
                <a:ea typeface="Calibri"/>
                <a:cs typeface="Calibri"/>
              </a:rPr>
              <a:t>Current Workflow</a:t>
            </a:r>
            <a:endParaRPr lang="en-US">
              <a:ea typeface="Meiryo"/>
            </a:endParaRPr>
          </a:p>
        </p:txBody>
      </p:sp>
      <p:sp>
        <p:nvSpPr>
          <p:cNvPr id="3" name="TextBox 2">
            <a:extLst>
              <a:ext uri="{FF2B5EF4-FFF2-40B4-BE49-F238E27FC236}">
                <a16:creationId xmlns:a16="http://schemas.microsoft.com/office/drawing/2014/main" id="{422E96A5-22C7-F58F-B642-1A0C526C1446}"/>
              </a:ext>
            </a:extLst>
          </p:cNvPr>
          <p:cNvSpPr txBox="1"/>
          <p:nvPr/>
        </p:nvSpPr>
        <p:spPr>
          <a:xfrm>
            <a:off x="364908" y="1717328"/>
            <a:ext cx="11472000" cy="37240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Calibri"/>
                <a:ea typeface="Calibri"/>
                <a:cs typeface="Calibri"/>
              </a:rPr>
              <a:t>3. Hybrid Extraction (The </a:t>
            </a:r>
            <a:r>
              <a:rPr lang="en-US" sz="2000" b="1" dirty="0" err="1">
                <a:latin typeface="Calibri"/>
                <a:ea typeface="Calibri"/>
                <a:cs typeface="Calibri"/>
              </a:rPr>
              <a:t>GraphRAG</a:t>
            </a:r>
            <a:r>
              <a:rPr lang="en-US" sz="2000" b="1" dirty="0">
                <a:latin typeface="Calibri"/>
                <a:ea typeface="Calibri"/>
                <a:cs typeface="Calibri"/>
              </a:rPr>
              <a:t> Engine)</a:t>
            </a:r>
          </a:p>
          <a:p>
            <a:endParaRPr lang="en-US" dirty="0">
              <a:latin typeface="Calibri"/>
              <a:ea typeface="Calibri"/>
              <a:cs typeface="Calibri"/>
            </a:endParaRPr>
          </a:p>
          <a:p>
            <a:r>
              <a:rPr lang="en-US" dirty="0">
                <a:latin typeface="Calibri"/>
                <a:ea typeface="Calibri"/>
                <a:cs typeface="Calibri"/>
              </a:rPr>
              <a:t>Concurrent Database Querying: instead of searching </a:t>
            </a:r>
            <a:r>
              <a:rPr lang="en-US" dirty="0" err="1">
                <a:latin typeface="Calibri"/>
                <a:ea typeface="Calibri"/>
                <a:cs typeface="Calibri"/>
              </a:rPr>
              <a:t>ChromaDB</a:t>
            </a:r>
            <a:r>
              <a:rPr lang="en-US" dirty="0">
                <a:latin typeface="Calibri"/>
                <a:ea typeface="Calibri"/>
                <a:cs typeface="Calibri"/>
              </a:rPr>
              <a:t> first and Neo4j second, </a:t>
            </a:r>
            <a:r>
              <a:rPr lang="en-US" dirty="0" err="1">
                <a:latin typeface="Calibri"/>
                <a:ea typeface="Calibri"/>
                <a:cs typeface="Calibri"/>
              </a:rPr>
              <a:t>FastAPI</a:t>
            </a:r>
            <a:r>
              <a:rPr lang="en-US" dirty="0">
                <a:latin typeface="Calibri"/>
                <a:ea typeface="Calibri"/>
                <a:cs typeface="Calibri"/>
              </a:rPr>
              <a:t> starts both searches together and combines their results when they are ready.</a:t>
            </a:r>
          </a:p>
          <a:p>
            <a:pPr>
              <a:buFont typeface="Arial"/>
              <a:buChar char="•"/>
            </a:pPr>
            <a:endParaRPr lang="en-US" dirty="0">
              <a:latin typeface="Calibri"/>
              <a:ea typeface="Calibri"/>
              <a:cs typeface="Calibri"/>
            </a:endParaRPr>
          </a:p>
          <a:p>
            <a:r>
              <a:rPr lang="en-US" dirty="0">
                <a:latin typeface="Calibri"/>
                <a:ea typeface="Calibri"/>
                <a:cs typeface="Calibri"/>
              </a:rPr>
              <a:t>Rigid Rules Extraction (Neo4j): NLP identifies important terms in the user’s question, such as “Cobalt” and “Thermal Stability,” and Neo4j retrieves the relevant trusted chemistry rule</a:t>
            </a:r>
            <a:r>
              <a:rPr lang="en-US" b="1" dirty="0">
                <a:latin typeface="Calibri"/>
                <a:ea typeface="Calibri"/>
                <a:cs typeface="Calibri"/>
              </a:rPr>
              <a:t>s</a:t>
            </a:r>
            <a:r>
              <a:rPr lang="en-US" dirty="0">
                <a:latin typeface="Calibri"/>
                <a:ea typeface="Calibri"/>
                <a:cs typeface="Calibri"/>
              </a:rPr>
              <a:t> from the Knowledge Graph. These rules are then used by the Validator Agent to check whether the generated battery material is chemically valid. </a:t>
            </a:r>
          </a:p>
          <a:p>
            <a:endParaRPr lang="en-US" dirty="0">
              <a:latin typeface="Calibri"/>
              <a:ea typeface="Calibri"/>
              <a:cs typeface="Calibri"/>
            </a:endParaRPr>
          </a:p>
          <a:p>
            <a:pPr>
              <a:buFont typeface="Arial"/>
            </a:pPr>
            <a:r>
              <a:rPr lang="en-US" dirty="0">
                <a:latin typeface="Calibri"/>
                <a:ea typeface="Calibri"/>
                <a:cs typeface="Calibri"/>
              </a:rPr>
              <a:t> Context Retrieval (</a:t>
            </a:r>
            <a:r>
              <a:rPr lang="en-US" dirty="0" err="1">
                <a:latin typeface="Calibri"/>
                <a:ea typeface="Calibri"/>
                <a:cs typeface="Calibri"/>
              </a:rPr>
              <a:t>ChromaDB</a:t>
            </a:r>
            <a:r>
              <a:rPr lang="en-US" dirty="0">
                <a:latin typeface="Calibri"/>
                <a:ea typeface="Calibri"/>
                <a:cs typeface="Calibri"/>
              </a:rPr>
              <a:t>): The system converts the user’s question into a mathematical representation</a:t>
            </a:r>
            <a:r>
              <a:rPr lang="en-US" b="1" dirty="0">
                <a:latin typeface="Calibri"/>
                <a:ea typeface="Calibri"/>
                <a:cs typeface="Calibri"/>
              </a:rPr>
              <a:t> </a:t>
            </a:r>
            <a:r>
              <a:rPr lang="en-US" dirty="0">
                <a:latin typeface="Calibri"/>
                <a:ea typeface="Calibri"/>
                <a:cs typeface="Calibri"/>
              </a:rPr>
              <a:t>(embedding) and compares it with the embeddings of paragraphs from battery research papers. It then finds the top 5 most similar paragraphs and uses them to provide relevant research context for answering the query</a:t>
            </a:r>
          </a:p>
          <a:p>
            <a:endParaRPr lang="en-US" dirty="0">
              <a:latin typeface="Calibri"/>
              <a:ea typeface="Calibri"/>
              <a:cs typeface="Calibri"/>
            </a:endParaRPr>
          </a:p>
        </p:txBody>
      </p:sp>
    </p:spTree>
    <p:extLst>
      <p:ext uri="{BB962C8B-B14F-4D97-AF65-F5344CB8AC3E}">
        <p14:creationId xmlns:p14="http://schemas.microsoft.com/office/powerpoint/2010/main" val="269245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C2B07-30B9-F10D-8AEF-3E2861288CA1}"/>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11</a:t>
            </a:r>
            <a:r>
              <a:rPr sz="3000" b="1" i="0">
                <a:solidFill>
                  <a:srgbClr val="FFFFFF"/>
                </a:solidFill>
                <a:latin typeface="Calibri"/>
              </a:rPr>
              <a:t>. Work Completed &amp; Work Remaining</a:t>
            </a:r>
          </a:p>
        </p:txBody>
      </p:sp>
      <p:sp>
        <p:nvSpPr>
          <p:cNvPr id="3" name="Rounded Rectangle 2"/>
          <p:cNvSpPr/>
          <p:nvPr/>
        </p:nvSpPr>
        <p:spPr>
          <a:xfrm>
            <a:off x="548640" y="1600200"/>
            <a:ext cx="5422392" cy="4114800"/>
          </a:xfrm>
          <a:prstGeom prst="roundRect">
            <a:avLst>
              <a:gd name="adj" fmla="val 4000"/>
            </a:avLst>
          </a:prstGeom>
          <a:solidFill>
            <a:srgbClr val="EBEDEB"/>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0" rIns="182880" bIns="45720" rtlCol="0" anchor="ctr"/>
          <a:lstStyle/>
          <a:p>
            <a:pPr algn="l"/>
            <a:r>
              <a:rPr lang="en-US" sz="2400" b="1" i="0" dirty="0">
                <a:solidFill>
                  <a:srgbClr val="595460"/>
                </a:solidFill>
                <a:latin typeface="Calibri"/>
              </a:rPr>
              <a:t>Completed </a:t>
            </a:r>
            <a:endParaRPr lang="en-US" sz="2400" b="1" i="0" dirty="0">
              <a:solidFill>
                <a:srgbClr val="595460"/>
              </a:solidFill>
              <a:latin typeface="Calibri"/>
              <a:ea typeface="Calibri"/>
              <a:cs typeface="Calibri"/>
            </a:endParaRPr>
          </a:p>
          <a:p>
            <a:pPr marL="171450" indent="-171450">
              <a:lnSpc>
                <a:spcPct val="105000"/>
              </a:lnSpc>
              <a:spcBef>
                <a:spcPts val="900"/>
              </a:spcBef>
              <a:buFont typeface="Arial"/>
              <a:buChar char="•"/>
            </a:pPr>
            <a:r>
              <a:rPr lang="en-US" b="0" i="0" dirty="0">
                <a:solidFill>
                  <a:srgbClr val="2A272E"/>
                </a:solidFill>
                <a:latin typeface="Calibri"/>
              </a:rPr>
              <a:t>  </a:t>
            </a:r>
            <a:r>
              <a:rPr lang="en-US" dirty="0" err="1">
                <a:solidFill>
                  <a:srgbClr val="2A272E"/>
                </a:solidFill>
                <a:latin typeface="Calibri"/>
                <a:ea typeface="Calibri"/>
                <a:cs typeface="Calibri"/>
              </a:rPr>
              <a:t>ChromaDB</a:t>
            </a:r>
            <a:r>
              <a:rPr lang="en-US" dirty="0">
                <a:solidFill>
                  <a:srgbClr val="2A272E"/>
                </a:solidFill>
                <a:latin typeface="Calibri"/>
                <a:ea typeface="Calibri"/>
                <a:cs typeface="Calibri"/>
              </a:rPr>
              <a:t> (semantic) and Neo4j (structural)</a:t>
            </a:r>
            <a:r>
              <a:rPr lang="en-US" b="0" i="0" dirty="0">
                <a:solidFill>
                  <a:srgbClr val="2A272E"/>
                </a:solidFill>
                <a:latin typeface="Calibri"/>
              </a:rPr>
              <a:t> ingestion</a:t>
            </a:r>
            <a:r>
              <a:rPr lang="en-US" dirty="0">
                <a:solidFill>
                  <a:srgbClr val="2A272E"/>
                </a:solidFill>
                <a:latin typeface="Calibri"/>
              </a:rPr>
              <a:t> pipeline</a:t>
            </a:r>
            <a:endParaRPr lang="en-US" b="0" i="0" dirty="0">
              <a:solidFill>
                <a:srgbClr val="2A272E"/>
              </a:solidFill>
              <a:latin typeface="Calibri"/>
              <a:ea typeface="Calibri"/>
              <a:cs typeface="Calibri"/>
            </a:endParaRPr>
          </a:p>
          <a:p>
            <a:pPr marL="171450" indent="-171450">
              <a:lnSpc>
                <a:spcPct val="105000"/>
              </a:lnSpc>
              <a:spcBef>
                <a:spcPts val="900"/>
              </a:spcBef>
              <a:buFont typeface="Arial"/>
              <a:buChar char="•"/>
            </a:pPr>
            <a:r>
              <a:rPr lang="en-US" b="0" i="0" dirty="0">
                <a:solidFill>
                  <a:srgbClr val="2A272E"/>
                </a:solidFill>
                <a:latin typeface="Calibri"/>
              </a:rPr>
              <a:t> Neo4j Knowledge Graph seeding + LLM extractor logic</a:t>
            </a:r>
            <a:endParaRPr lang="en-US" b="0" i="0" dirty="0">
              <a:solidFill>
                <a:srgbClr val="2A272E"/>
              </a:solidFill>
              <a:latin typeface="Calibri"/>
              <a:ea typeface="Calibri"/>
              <a:cs typeface="Calibri"/>
            </a:endParaRPr>
          </a:p>
          <a:p>
            <a:pPr marL="171450" indent="-171450">
              <a:lnSpc>
                <a:spcPct val="105000"/>
              </a:lnSpc>
              <a:spcBef>
                <a:spcPts val="900"/>
              </a:spcBef>
              <a:buFont typeface="Arial"/>
              <a:buChar char="•"/>
            </a:pPr>
            <a:r>
              <a:rPr lang="en-US" b="0" i="0" dirty="0">
                <a:solidFill>
                  <a:srgbClr val="2A272E"/>
                </a:solidFill>
                <a:latin typeface="Calibri"/>
              </a:rPr>
              <a:t> </a:t>
            </a:r>
            <a:r>
              <a:rPr lang="en-US" b="0" i="0" dirty="0" err="1">
                <a:solidFill>
                  <a:srgbClr val="2A272E"/>
                </a:solidFill>
                <a:latin typeface="Calibri"/>
              </a:rPr>
              <a:t>FastAPI</a:t>
            </a:r>
            <a:r>
              <a:rPr lang="en-US" b="0" i="0" dirty="0">
                <a:solidFill>
                  <a:srgbClr val="2A272E"/>
                </a:solidFill>
                <a:latin typeface="Calibri"/>
              </a:rPr>
              <a:t>, Celery &amp; Redis orchestration skeleton</a:t>
            </a:r>
            <a:endParaRPr lang="en-US" b="0" i="0" dirty="0">
              <a:solidFill>
                <a:srgbClr val="2A272E"/>
              </a:solidFill>
              <a:latin typeface="Calibri"/>
              <a:ea typeface="Calibri"/>
              <a:cs typeface="Calibri"/>
            </a:endParaRPr>
          </a:p>
          <a:p>
            <a:pPr marL="171450" indent="-171450">
              <a:lnSpc>
                <a:spcPct val="105000"/>
              </a:lnSpc>
              <a:spcBef>
                <a:spcPts val="900"/>
              </a:spcBef>
              <a:buFont typeface="Arial"/>
              <a:buChar char="•"/>
            </a:pPr>
            <a:r>
              <a:rPr lang="en-US" b="0" i="0" dirty="0">
                <a:solidFill>
                  <a:srgbClr val="2A272E"/>
                </a:solidFill>
                <a:latin typeface="Calibri"/>
              </a:rPr>
              <a:t>Planner Node: translates prompts to JSON constraints &amp; initializes</a:t>
            </a:r>
            <a:r>
              <a:rPr lang="en-US" dirty="0">
                <a:solidFill>
                  <a:srgbClr val="2A272E"/>
                </a:solidFill>
                <a:latin typeface="Calibri"/>
              </a:rPr>
              <a:t> </a:t>
            </a:r>
            <a:r>
              <a:rPr lang="en-US" b="0" i="0" dirty="0">
                <a:solidFill>
                  <a:srgbClr val="2A272E"/>
                </a:solidFill>
                <a:latin typeface="Calibri"/>
              </a:rPr>
              <a:t> base materials </a:t>
            </a:r>
            <a:endParaRPr lang="en-US" b="0" i="0" dirty="0">
              <a:solidFill>
                <a:srgbClr val="2A272E"/>
              </a:solidFill>
              <a:latin typeface="Calibri"/>
              <a:ea typeface="Calibri"/>
              <a:cs typeface="Calibri"/>
            </a:endParaRPr>
          </a:p>
        </p:txBody>
      </p:sp>
      <p:sp>
        <p:nvSpPr>
          <p:cNvPr id="4" name="Rounded Rectangle 3"/>
          <p:cNvSpPr/>
          <p:nvPr/>
        </p:nvSpPr>
        <p:spPr>
          <a:xfrm>
            <a:off x="6217920" y="1600200"/>
            <a:ext cx="5422392" cy="4114800"/>
          </a:xfrm>
          <a:prstGeom prst="roundRect">
            <a:avLst>
              <a:gd name="adj" fmla="val 4000"/>
            </a:avLst>
          </a:prstGeom>
          <a:solidFill>
            <a:srgbClr val="97A7B8"/>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0" rIns="182880" bIns="45720" rtlCol="0" anchor="ctr"/>
          <a:lstStyle/>
          <a:p>
            <a:pPr marL="171450" indent="-171450">
              <a:lnSpc>
                <a:spcPct val="105000"/>
              </a:lnSpc>
              <a:spcBef>
                <a:spcPts val="900"/>
              </a:spcBef>
              <a:buFont typeface="Arial"/>
              <a:buChar char="•"/>
            </a:pPr>
            <a:r>
              <a:rPr lang="en-US">
                <a:solidFill>
                  <a:schemeClr val="tx1"/>
                </a:solidFill>
                <a:latin typeface="Calibri"/>
                <a:ea typeface="Calibri"/>
                <a:cs typeface="Calibri"/>
              </a:rPr>
              <a:t>Agent to fetch papers, patterns and data</a:t>
            </a:r>
          </a:p>
          <a:p>
            <a:pPr marL="171450" indent="-171450">
              <a:lnSpc>
                <a:spcPct val="105000"/>
              </a:lnSpc>
              <a:spcBef>
                <a:spcPts val="900"/>
              </a:spcBef>
              <a:buFont typeface="Arial,Sans-Serif"/>
              <a:buChar char="•"/>
            </a:pPr>
            <a:r>
              <a:rPr lang="en-US">
                <a:solidFill>
                  <a:schemeClr val="tx1"/>
                </a:solidFill>
                <a:latin typeface="Calibri"/>
                <a:ea typeface="Calibri"/>
                <a:cs typeface="Calibri"/>
              </a:rPr>
              <a:t>Genetic Algorithm (Mutator): The core math engine that "breeds" new materials using elemental substitution</a:t>
            </a:r>
          </a:p>
          <a:p>
            <a:pPr marL="171450" indent="-171450">
              <a:lnSpc>
                <a:spcPct val="105000"/>
              </a:lnSpc>
              <a:spcBef>
                <a:spcPts val="900"/>
              </a:spcBef>
              <a:buFont typeface="Arial"/>
              <a:buChar char="•"/>
            </a:pPr>
            <a:r>
              <a:rPr lang="en-US">
                <a:solidFill>
                  <a:schemeClr val="tx1"/>
                </a:solidFill>
                <a:latin typeface="Calibri"/>
                <a:ea typeface="Calibri"/>
                <a:cs typeface="Calibri"/>
              </a:rPr>
              <a:t>A final synthesis agent that compiles the winning material candidates into a readable PDF research report.</a:t>
            </a:r>
          </a:p>
          <a:p>
            <a:pPr marL="171450" indent="-171450">
              <a:lnSpc>
                <a:spcPct val="105000"/>
              </a:lnSpc>
              <a:spcBef>
                <a:spcPts val="900"/>
              </a:spcBef>
              <a:buFont typeface="Arial"/>
              <a:buChar char="•"/>
            </a:pPr>
            <a:r>
              <a:rPr lang="en-US">
                <a:solidFill>
                  <a:schemeClr val="tx1"/>
                </a:solidFill>
                <a:latin typeface="Calibri"/>
                <a:ea typeface="Calibri"/>
                <a:cs typeface="Calibri"/>
              </a:rPr>
              <a:t> Dashboard allowing researchers to visually track the background evolutionary loops and view results.</a:t>
            </a:r>
          </a:p>
        </p:txBody>
      </p:sp>
      <p:sp>
        <p:nvSpPr>
          <p:cNvPr id="5" name="TextBox 4">
            <a:extLst>
              <a:ext uri="{FF2B5EF4-FFF2-40B4-BE49-F238E27FC236}">
                <a16:creationId xmlns:a16="http://schemas.microsoft.com/office/drawing/2014/main" id="{FBA34689-1A64-4EBE-3DB1-F0F9898A1866}"/>
              </a:ext>
            </a:extLst>
          </p:cNvPr>
          <p:cNvSpPr txBox="1"/>
          <p:nvPr/>
        </p:nvSpPr>
        <p:spPr>
          <a:xfrm>
            <a:off x="6482367" y="1717183"/>
            <a:ext cx="339143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595460"/>
                </a:solidFill>
                <a:latin typeface="Calibri"/>
                <a:ea typeface="Calibri"/>
                <a:cs typeface="Calibri"/>
              </a:rPr>
              <a:t>Remaining</a:t>
            </a:r>
          </a:p>
        </p:txBody>
      </p:sp>
    </p:spTree>
    <p:extLst>
      <p:ext uri="{BB962C8B-B14F-4D97-AF65-F5344CB8AC3E}">
        <p14:creationId xmlns:p14="http://schemas.microsoft.com/office/powerpoint/2010/main" val="2940807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4F168-CC47-97E5-C146-174C7F8EE22C}"/>
            </a:ext>
          </a:extLst>
        </p:cNvPr>
        <p:cNvGrpSpPr/>
        <p:nvPr/>
      </p:nvGrpSpPr>
      <p:grpSpPr>
        <a:xfrm>
          <a:off x="0" y="0"/>
          <a:ext cx="0" cy="0"/>
          <a:chOff x="0" y="0"/>
          <a:chExt cx="0" cy="0"/>
        </a:xfrm>
      </p:grpSpPr>
      <p:sp>
        <p:nvSpPr>
          <p:cNvPr id="2" name="TextBox 1"/>
          <p:cNvSpPr txBox="1"/>
          <p:nvPr/>
        </p:nvSpPr>
        <p:spPr>
          <a:xfrm>
            <a:off x="548640" y="413373"/>
            <a:ext cx="11091672" cy="553998"/>
          </a:xfrm>
          <a:prstGeom prst="rect">
            <a:avLst/>
          </a:prstGeom>
          <a:noFill/>
        </p:spPr>
        <p:txBody>
          <a:bodyPr wrap="square" lIns="91440" tIns="45720" rIns="91440" bIns="45720" anchor="ctr">
            <a:spAutoFit/>
          </a:bodyPr>
          <a:lstStyle/>
          <a:p>
            <a:pPr algn="l"/>
            <a:r>
              <a:rPr lang="en-US" sz="3000" b="1">
                <a:solidFill>
                  <a:srgbClr val="FFFFFF"/>
                </a:solidFill>
                <a:latin typeface="Calibri"/>
              </a:rPr>
              <a:t>12</a:t>
            </a:r>
            <a:r>
              <a:rPr sz="3000" b="1" i="0">
                <a:solidFill>
                  <a:srgbClr val="FFFFFF"/>
                </a:solidFill>
                <a:latin typeface="Calibri"/>
              </a:rPr>
              <a:t>. References</a:t>
            </a:r>
          </a:p>
        </p:txBody>
      </p:sp>
      <p:sp>
        <p:nvSpPr>
          <p:cNvPr id="3" name="TextBox 2"/>
          <p:cNvSpPr txBox="1"/>
          <p:nvPr/>
        </p:nvSpPr>
        <p:spPr>
          <a:xfrm>
            <a:off x="548640" y="1600200"/>
            <a:ext cx="11091672" cy="3021596"/>
          </a:xfrm>
          <a:prstGeom prst="rect">
            <a:avLst/>
          </a:prstGeom>
          <a:noFill/>
        </p:spPr>
        <p:txBody>
          <a:bodyPr wrap="square" lIns="91440" tIns="45720" rIns="91440" bIns="45720" anchor="t">
            <a:spAutoFit/>
          </a:bodyPr>
          <a:lstStyle/>
          <a:p>
            <a:pPr marL="285750" indent="-285750" algn="l">
              <a:lnSpc>
                <a:spcPct val="115000"/>
              </a:lnSpc>
              <a:spcAft>
                <a:spcPts val="1400"/>
              </a:spcAft>
              <a:buFont typeface="Arial"/>
              <a:buChar char="•"/>
            </a:pPr>
            <a:r>
              <a:rPr b="0" i="0">
                <a:solidFill>
                  <a:srgbClr val="2A272E"/>
                </a:solidFill>
                <a:latin typeface="Calibri"/>
              </a:rPr>
              <a:t> Wang, H.-T. et al. (2026). Chat-RFB: a flow battery chat system leveraging knowledge graphs and large language models.</a:t>
            </a:r>
            <a:endParaRPr lang="en-US">
              <a:ea typeface="Meiryo"/>
            </a:endParaRPr>
          </a:p>
          <a:p>
            <a:pPr marL="285750" indent="-285750" algn="l">
              <a:lnSpc>
                <a:spcPct val="115000"/>
              </a:lnSpc>
              <a:spcAft>
                <a:spcPts val="1400"/>
              </a:spcAft>
              <a:buFont typeface="Arial"/>
              <a:buChar char="•"/>
            </a:pPr>
            <a:r>
              <a:rPr b="0" i="0">
                <a:solidFill>
                  <a:srgbClr val="2A272E"/>
                </a:solidFill>
                <a:latin typeface="Calibri"/>
              </a:rPr>
              <a:t>Mostafa, R. et al. (2024). G-RAG: Knowledge Expansion in Material Science.</a:t>
            </a:r>
            <a:endParaRPr b="0" i="0">
              <a:solidFill>
                <a:srgbClr val="2A272E"/>
              </a:solidFill>
              <a:latin typeface="Calibri"/>
              <a:ea typeface="Calibri"/>
              <a:cs typeface="Calibri"/>
            </a:endParaRPr>
          </a:p>
          <a:p>
            <a:pPr marL="285750" indent="-285750" algn="l">
              <a:lnSpc>
                <a:spcPct val="115000"/>
              </a:lnSpc>
              <a:spcAft>
                <a:spcPts val="1400"/>
              </a:spcAft>
              <a:buFont typeface="Arial"/>
              <a:buChar char="•"/>
            </a:pPr>
            <a:r>
              <a:rPr b="0" i="0">
                <a:solidFill>
                  <a:srgbClr val="2A272E"/>
                </a:solidFill>
                <a:latin typeface="Calibri"/>
              </a:rPr>
              <a:t> Zhang, X. et al. (2026). Advancing battery failure diagnosis by knowledge-augmented large language models.</a:t>
            </a:r>
            <a:endParaRPr b="0" i="0">
              <a:solidFill>
                <a:srgbClr val="2A272E"/>
              </a:solidFill>
              <a:latin typeface="Calibri"/>
              <a:ea typeface="Calibri"/>
              <a:cs typeface="Calibri"/>
            </a:endParaRPr>
          </a:p>
          <a:p>
            <a:pPr marL="285750" indent="-285750" algn="l">
              <a:lnSpc>
                <a:spcPct val="115000"/>
              </a:lnSpc>
              <a:spcAft>
                <a:spcPts val="1400"/>
              </a:spcAft>
              <a:buFont typeface="Arial"/>
              <a:buChar char="•"/>
            </a:pPr>
            <a:r>
              <a:rPr b="0" i="0">
                <a:solidFill>
                  <a:srgbClr val="2A272E"/>
                </a:solidFill>
                <a:latin typeface="Calibri"/>
              </a:rPr>
              <a:t>Zhao, Y. et al. (2025). LISA: A Lithium-Ion Solid-State Assistant using large language models.</a:t>
            </a:r>
            <a:endParaRPr b="0" i="0">
              <a:solidFill>
                <a:srgbClr val="2A272E"/>
              </a:solidFill>
              <a:latin typeface="Calibri"/>
              <a:ea typeface="Calibri"/>
              <a:cs typeface="Calibri"/>
            </a:endParaRPr>
          </a:p>
          <a:p>
            <a:pPr marL="285750" indent="-285750" algn="l">
              <a:lnSpc>
                <a:spcPct val="115000"/>
              </a:lnSpc>
              <a:spcAft>
                <a:spcPts val="1400"/>
              </a:spcAft>
              <a:buFont typeface="Arial"/>
              <a:buChar char="•"/>
            </a:pPr>
            <a:r>
              <a:rPr b="0" i="0">
                <a:solidFill>
                  <a:srgbClr val="2A272E"/>
                </a:solidFill>
                <a:latin typeface="Calibri"/>
              </a:rPr>
              <a:t>  Leng, Y. et al. (2025). Intelligent, Personalized Scientific Assistant via Large Language Models for Solid-State Battery Research.</a:t>
            </a:r>
            <a:endParaRPr b="0" i="0">
              <a:solidFill>
                <a:srgbClr val="2A272E"/>
              </a:solidFill>
              <a:latin typeface="Calibri"/>
              <a:ea typeface="Calibri"/>
              <a:cs typeface="Calibri"/>
            </a:endParaRPr>
          </a:p>
        </p:txBody>
      </p:sp>
    </p:spTree>
    <p:extLst>
      <p:ext uri="{BB962C8B-B14F-4D97-AF65-F5344CB8AC3E}">
        <p14:creationId xmlns:p14="http://schemas.microsoft.com/office/powerpoint/2010/main" val="3180506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p:txBody>
          <a:bodyPr/>
          <a:lstStyle/>
          <a:p>
            <a:r>
              <a:rPr lang="en-US"/>
              <a:t>THANK YOU</a:t>
            </a:r>
          </a:p>
        </p:txBody>
      </p:sp>
      <p:sp>
        <p:nvSpPr>
          <p:cNvPr id="3" name="Content Placeholder 2">
            <a:extLst>
              <a:ext uri="{FF2B5EF4-FFF2-40B4-BE49-F238E27FC236}">
                <a16:creationId xmlns:a16="http://schemas.microsoft.com/office/drawing/2014/main" id="{FBD91A75-6654-B685-B043-0B96F2AA2EDC}"/>
              </a:ext>
            </a:extLst>
          </p:cNvPr>
          <p:cNvSpPr>
            <a:spLocks noGrp="1"/>
          </p:cNvSpPr>
          <p:nvPr>
            <p:ph idx="1"/>
          </p:nvPr>
        </p:nvSpPr>
        <p:spPr/>
        <p:txBody>
          <a:bodyPr/>
          <a:lstStyle/>
          <a:p>
            <a:r>
              <a:rPr lang="en-GB"/>
              <a:t>Team 8</a:t>
            </a:r>
            <a:br>
              <a:rPr lang="en-GB"/>
            </a:br>
            <a:r>
              <a:rPr lang="en-GB"/>
              <a:t>AIE C</a:t>
            </a:r>
            <a:endParaRPr lang="en-IN"/>
          </a:p>
        </p:txBody>
      </p:sp>
    </p:spTree>
    <p:extLst>
      <p:ext uri="{BB962C8B-B14F-4D97-AF65-F5344CB8AC3E}">
        <p14:creationId xmlns:p14="http://schemas.microsoft.com/office/powerpoint/2010/main" val="1413679442"/>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9cc30c9d-470f-4184-8cf6-3de8178a07b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11E061CD89C41A2A99FC0430DD659" ma:contentTypeVersion="12" ma:contentTypeDescription="Create a new document." ma:contentTypeScope="" ma:versionID="15b0f33e371ad9ed891f22e49be59c4f">
  <xsd:schema xmlns:xsd="http://www.w3.org/2001/XMLSchema" xmlns:xs="http://www.w3.org/2001/XMLSchema" xmlns:p="http://schemas.microsoft.com/office/2006/metadata/properties" xmlns:ns3="9cc30c9d-470f-4184-8cf6-3de8178a07b2" targetNamespace="http://schemas.microsoft.com/office/2006/metadata/properties" ma:root="true" ma:fieldsID="e3aead1d2f08efa0be96b934d7f2ed20" ns3:_="">
    <xsd:import namespace="9cc30c9d-470f-4184-8cf6-3de8178a07b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GenerationTime" minOccurs="0"/>
                <xsd:element ref="ns3:MediaServiceEventHashCode" minOccurs="0"/>
                <xsd:element ref="ns3:MediaLengthInSeconds" minOccurs="0"/>
                <xsd:element ref="ns3:MediaServiceLocation"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cc30c9d-470f-4184-8cf6-3de8178a07b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Location" ma:index="18" nillable="true" ma:displayName="Location" ma:indexed="true" ma:internalName="MediaServiceLocation"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36CB81-A037-44A8-88EB-C0C0F17FD4B1}">
  <ds:schemaRefs>
    <ds:schemaRef ds:uri="http://schemas.microsoft.com/sharepoint/v3/contenttype/forms"/>
  </ds:schemaRefs>
</ds:datastoreItem>
</file>

<file path=customXml/itemProps2.xml><?xml version="1.0" encoding="utf-8"?>
<ds:datastoreItem xmlns:ds="http://schemas.openxmlformats.org/officeDocument/2006/customXml" ds:itemID="{57FF477C-132F-44F8-8C56-EBFF95FAF97B}">
  <ds:schemaRefs>
    <ds:schemaRef ds:uri="9cc30c9d-470f-4184-8cf6-3de8178a07b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CE5BFF70-537A-44CC-8E30-924CDDBAB20E}">
  <ds:schemaRefs>
    <ds:schemaRef ds:uri="9cc30c9d-470f-4184-8cf6-3de8178a07b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ShojiVTI</Template>
  <TotalTime>36</TotalTime>
  <Words>2034</Words>
  <Application>Microsoft Office PowerPoint</Application>
  <PresentationFormat>Widescreen</PresentationFormat>
  <Paragraphs>206</Paragraphs>
  <Slides>19</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Meiryo</vt:lpstr>
      <vt:lpstr>Arial</vt:lpstr>
      <vt:lpstr>Arial,Sans-Serif</vt:lpstr>
      <vt:lpstr>Calibri</vt:lpstr>
      <vt:lpstr>Corbel</vt:lpstr>
      <vt:lpstr>ShojiVTI</vt:lpstr>
      <vt:lpstr>22AIE452 Data Driven Material Modelling &amp; Simulation   AURA: Autonomous Unified Research Assistant for  Battery Materials DiscoverY    Team 8 AIE C Batch  Sreeshanth K      CB.SC.U4AIE24225 Kishore B             CB.SC.U4AIE24227 Rahul L S             CB.SC.U4AIE24248 Manas T              CB.SC.U4AIE24257 Zahwa K              CB.SC.U4AIE24261 </vt:lpstr>
      <vt:lpstr>Table of Contents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Kishore B</dc:creator>
  <cp:lastModifiedBy>Rahul L S</cp:lastModifiedBy>
  <cp:revision>6</cp:revision>
  <dcterms:created xsi:type="dcterms:W3CDTF">2026-08-16T14:04:26Z</dcterms:created>
  <dcterms:modified xsi:type="dcterms:W3CDTF">2026-08-18T07:07:36Z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0x010100C2511E061CD89C41A2A99FC0430DD659</vt:lpwstr>
  </property>
  <property fmtid="{D5CDD505-2E9C-101B-9397-08002B2CF9AE}" pid="3" name="MediaServiceImageTags">
    <vt:lpwstr/>
  </property>
</Properties>
</file>